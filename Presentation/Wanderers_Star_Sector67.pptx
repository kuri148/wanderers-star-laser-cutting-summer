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7f29d653-4e98-f1d6-9665-8d41bf492863}">
          <p14:sldIdLst>
            <p14:sldId id="256"/>
          </p14:sldIdLst>
        </p14:section>
        <p14:section name="What did I make?" id="{23a5aaa6-2ba0-4b70-ebe5-d01e32fa772e}">
          <p14:sldIdLst>
            <p14:sldId id="257"/>
            <p14:sldId id="258"/>
          </p14:sldIdLst>
        </p14:section>
        <p14:section name="Why did I make it?" id="{4f432885-2dc6-0c9a-3a81-91350343c2c4}">
          <p14:sldIdLst>
            <p14:sldId id="259"/>
            <p14:sldId id="260"/>
            <p14:sldId id="261"/>
          </p14:sldIdLst>
        </p14:section>
        <p14:section name="How did I make it?" id="{cf7fb49a-75aa-385d-ad5f-ce8d158279e7}">
          <p14:sldIdLst>
            <p14:sldId id="262"/>
            <p14:sldId id="263"/>
            <p14:sldId id="264"/>
            <p14:sldId id="265"/>
            <p14:sldId id="266"/>
            <p14:sldId id="267"/>
            <p14:sldId id="268"/>
            <p14:sldId id="269"/>
            <p14:sldId id="270"/>
          </p14:sldIdLst>
        </p14:section>
        <p14:section name="What is next?" id="{02b90a1b-1f2d-83e4-973c-f0905e42a100}">
          <p14:sldIdLst>
            <p14:sldId id="271"/>
            <p14:sldId id="272"/>
            <p14:sldId id="273"/>
          </p14:sldIdLst>
        </p14:section>
        <p14:section name="Close" id="{1e251719-dae2-1af1-d3df-321d593b438a}">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Introduce yourself and the project. 'Wanderers' nods to the planets (Greek planētēs = wanderers) and to Kepler, who first described this star polyhedron in 1619.
Roadmap: what I made, why, how, and what's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PLUG IN THE STAR before this slide.
Geometry: a dodecahedron (pentagon edge 150 mm) with a five-sided pyramid on each of its 12 faces. Every pyramid face is a golden triangle, so 12 × 5 = 60 panels. Teal = one panel. It's Kepler's star polyhedron (1619); as a Kepler–Poinsot solid it counts as 12 pentagram faces, 12 vertices, 30 edges.
Tip-to-tip ≈ 747 mm, computed from the 150 mm edge; measure the real one to confirm.
Lights: 12 groups × 3 LEDs = 36 WS2812B pixels on an ESP32.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golden triangle is the isosceles triangle with a 36° apex and two 72° base angles. Leg ÷ base is exactly the golden ratio φ ≈ 1.618. With a 150 mm base, the legs are 242.7 mm and the height is 230.8 mm.
It's the triangle in a pentagram, which is why it builds a pentagonal star. Five 36° tips meet at every point: 5 × 36° = 180°, which is why the points are so sharp.
Cut off a base angle with its bisector and you get a smaller golden triangle plus a 36-36-108 'golden gnomon'. It repeats forever.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My mother's quilts. Repeating blocks, rotated, mirrored and repeated: the same symmetry that drives every panel on the star. Point out the kaleidoscope stars (left) and the double wedding ring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Before the laser: the big shapes you used to cut from large plywood sheets, and what you wanted to do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lamps of Sector67: lamps other members built here inspired this one. Credit the makers if you know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Three books:
• Tilings &amp; Patterns, Branko Grünbaum &amp; G. C. Shephard: the encyclopedic reference.
• The Symmetries of Things, John H. Conway, Heidi Burgiel &amp; Chaim Goodman-Strauss: orbifold notation (the *442-style names).
• Symmetry: A Mathematical Exploration, Kristopher Tapp: the friendliest intro to the group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What I took from them: star-polygon tilings (Tilings &amp; Patterns), brick bonds classified as orbifolds 2*22 and 22* (Symmetries of Things), dodecahedron/icosahedron duality (Symmetry).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17 wallpaper groups. Every repeating pattern on a flat surface uses exactly one of them; the pattern editor has a template for each.
Order (left to right, top to bottom): p1, p2, pm, pg, cm, pmm / pmg, pgg, cmm, p4, p4m, p4g / p3, p3m1, p31m, p6, p6m.
The letter-F trick: an F has no symmetry of its own, so every copy is created by the group. Orange Fs are mirror images, so groups with no orange (p1, p2, p3, p4, p6) have only rotations and translations.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Materials: laser-cut plywood panels (60) and pentagon bases (12), zip ties (current joinery), WS2812B addressable LED strip, 3-pin 20 AWG extension wire, ESP32 dev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Tools: the Sector67 laser cutter. Software: OpenSCAD (every panel is a script), my pattern editor, Python scripts that nest panels onto sheets and export LightBurn files, LightBurn to drive the laser, Arduino IDE for the ESP32.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It starts in the notebook: pick a wallpaper group, sketch the fundamental domain, hand-write the OpenSCAD modules (FundamentalDomain, FundamentalCut, CompletedTile, PatternArray), then tile, clip to the golden triangle, and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Then I built a tool for it: choose any of the 17 groups, draw polygons, Bézier curves and circles in the fundamental domain, see the tiling update live, export a framed ready-to-cut .scad panel.
kuri148.github.io/Wanderers-Star-Laser-Cutting-Summer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10 s. VIDEO: click to play (or set Playback &gt; Start: Automatically). Each of the 60 patterns fills the screen for 2 s, then the full 60-pattern grid holds for 10 s. 60 panels, 60 patterns. Point out favourites: MapleQuilt is a nod to the quilts; SixtySeven is for Sector67.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Wiring: the strip is cut into single pixels and chained with 3-pin wire (+5V, data, ground). Laid out and tested on a cardboard template first. 36 pixels, 3 per point, all on one ESP32 data pin.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Next for the star:
• Beyond zip ties: designed connectors so panels join cleanly and the star comes apart for transport.
• Diffusers: soften the LED hot spots so each panel glows evenly.
• Metal: a finished version cut in metal.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Next for me:
• More light shows: the whiteboard maps the 12 points, neighbours, and opposite pairs (0-11, 1-9, 2-10, 3-6, 4-7, 5-8).
• 3D packings &amp; tilings: the plane has 17 wallpaper groups, space has 230 crystallographic groups.
• WebXR geometry: my new project, walking around these shapes in VR.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whiteboard, cleaned up. Left: every star point is a face of a dodecahedron, flattened so 0 is in the middle and 11 is the outside. Right: the same thing as a graph, 12 nodes and 30 links, which is the icosahedron. These are the exact links in the light-show code (edgeList).
Colours are hops from point 0. Every point is at most 3 hops from any other, and its 3-hop partner is the point straight through the star: 0-11, 1-9, 2-10, 3-6, 4-7, 5-8 (poleList).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questions. Offer to turn the light show back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4182B"/>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1325880"/>
            <a:ext cx="329184" cy="506578"/>
          </a:xfrm>
          <a:prstGeom prst="rect">
            <a:avLst/>
          </a:prstGeom>
        </p:spPr>
      </p:pic>
      <p:sp>
        <p:nvSpPr>
          <p:cNvPr id="3" name="Text 0"/>
          <p:cNvSpPr/>
          <p:nvPr>
            <p:ph idx="101" type="title" hasCustomPrompt="1"/>
          </p:nvPr>
        </p:nvSpPr>
        <p:spPr>
          <a:xfrm>
            <a:off x="548640" y="2011680"/>
            <a:ext cx="6035040" cy="137160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r>
              <a:rPr lang="en-US" sz="5400" b="1" dirty="0">
                <a:solidFill>
                  <a:schemeClr val="bg1"/>
                </a:solidFill>
                <a:latin typeface="Cambria" pitchFamily="34" charset="0"/>
                <a:ea typeface="Cambria" pitchFamily="34" charset="-122"/>
                <a:cs typeface="Cambria" pitchFamily="34" charset="-120"/>
              </a:rPr>
              <a:t>Title</a:t>
            </a:r>
            <a:endParaRPr lang="en-US" sz="5400" dirty="0"/>
          </a:p>
        </p:txBody>
      </p:sp>
      <p:sp>
        <p:nvSpPr>
          <p:cNvPr id="4" name="Text 0"/>
          <p:cNvSpPr/>
          <p:nvPr>
            <p:ph idx="102" type="body" hasCustomPrompt="1"/>
          </p:nvPr>
        </p:nvSpPr>
        <p:spPr>
          <a:xfrm>
            <a:off x="548640" y="3520440"/>
            <a:ext cx="5852160" cy="1463040"/>
          </a:xfrm>
          <a:prstGeom prst="rect">
            <a:avLst/>
          </a:prstGeom>
          <a:noFill/>
          <a:ln/>
        </p:spPr>
        <p:txBody>
          <a:bodyPr wrap="square" rtlCol="0"/>
          <a:lstStyle>
            <a:lvl1pPr indent="0" marL="0">
              <a:buNone/>
              <a:defRPr lang="en-US" sz="2000" dirty="0">
                <a:solidFill>
                  <a:schemeClr val="accent6"/>
                </a:solidFill>
              </a:defRPr>
            </a:lvl1pPr>
          </a:lstStyle>
          <a:p>
            <a:pPr indent="0" marL="0">
              <a:buNone/>
            </a:pPr>
            <a:r>
              <a:rPr lang="en-US" sz="2000" dirty="0">
                <a:solidFill>
                  <a:schemeClr val="accent6"/>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1418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4415" cy="77724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r>
              <a:rPr lang="en-US" sz="3600" b="1" dirty="0">
                <a:solidFill>
                  <a:schemeClr val="bg1"/>
                </a:solidFill>
                <a:latin typeface="Cambria" pitchFamily="34" charset="0"/>
                <a:ea typeface="Cambria" pitchFamily="34" charset="-122"/>
                <a:cs typeface="Cambria" pitchFamily="34" charset="-120"/>
              </a:rPr>
              <a:t>Title</a:t>
            </a: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14182B"/>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_FULL_PLYWOOD">
    <p:bg>
      <p:bgPr>
        <a:solidFill>
          <a:srgbClr val="14182B"/>
        </a:solidFill>
      </p:bgPr>
    </p:bg>
    <p:spTree>
      <p:nvGrpSpPr>
        <p:cNvPr id="1" name=""/>
        <p:cNvGrpSpPr/>
        <p:nvPr/>
      </p:nvGrpSpPr>
      <p:grpSpPr>
        <a:xfrm>
          <a:off x="0" y="0"/>
          <a:ext cx="0" cy="0"/>
          <a:chOff x="0" y="0"/>
          <a:chExt cx="0" cy="0"/>
        </a:xfrm>
      </p:grpSpPr>
      <p:sp>
        <p:nvSpPr>
          <p:cNvPr id="2" name="Text 0"/>
          <p:cNvSpPr/>
          <p:nvPr>
            <p:ph idx="100" hasCustomPrompt="1"/>
          </p:nvPr>
        </p:nvSpPr>
        <p:spPr>
          <a:xfrm>
            <a:off x="228600" y="228600"/>
            <a:ext cx="11734495" cy="6400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r>
              <a:rPr lang="en-US" sz="1600" dirty="0">
                <a:solidFill>
                  <a:schemeClr val="accent4"/>
                </a:solidFill>
              </a:rPr>
              <a:t>Click the icon to add a photo of the plywood shapes</a:t>
            </a:r>
            <a:endParaRPr lang="en-US" sz="16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IC_FULL_LASER">
    <p:bg>
      <p:bgPr>
        <a:solidFill>
          <a:srgbClr val="14182B"/>
        </a:solidFill>
      </p:bgPr>
    </p:bg>
    <p:spTree>
      <p:nvGrpSpPr>
        <p:cNvPr id="1" name=""/>
        <p:cNvGrpSpPr/>
        <p:nvPr/>
      </p:nvGrpSpPr>
      <p:grpSpPr>
        <a:xfrm>
          <a:off x="0" y="0"/>
          <a:ext cx="0" cy="0"/>
          <a:chOff x="0" y="0"/>
          <a:chExt cx="0" cy="0"/>
        </a:xfrm>
      </p:grpSpPr>
      <p:sp>
        <p:nvSpPr>
          <p:cNvPr id="2" name="Text 0"/>
          <p:cNvSpPr/>
          <p:nvPr>
            <p:ph idx="100" hasCustomPrompt="1"/>
          </p:nvPr>
        </p:nvSpPr>
        <p:spPr>
          <a:xfrm>
            <a:off x="228600" y="228600"/>
            <a:ext cx="11734495" cy="6400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r>
              <a:rPr lang="en-US" sz="1600" dirty="0">
                <a:solidFill>
                  <a:schemeClr val="accent4"/>
                </a:solidFill>
              </a:rPr>
              <a:t>Click the icon to add a photo of the laser cutter in action</a:t>
            </a:r>
            <a:endParaRPr lang="en-US" sz="16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IC_3_LAMPS">
    <p:bg>
      <p:bgPr>
        <a:solidFill>
          <a:srgbClr val="14182B"/>
        </a:solidFill>
      </p:bgPr>
    </p:bg>
    <p:spTree>
      <p:nvGrpSpPr>
        <p:cNvPr id="1" name=""/>
        <p:cNvGrpSpPr/>
        <p:nvPr/>
      </p:nvGrpSpPr>
      <p:grpSpPr>
        <a:xfrm>
          <a:off x="0" y="0"/>
          <a:ext cx="0" cy="0"/>
          <a:chOff x="0" y="0"/>
          <a:chExt cx="0" cy="0"/>
        </a:xfrm>
      </p:grpSpPr>
      <p:sp>
        <p:nvSpPr>
          <p:cNvPr id="2" name="Text 0"/>
          <p:cNvSpPr/>
          <p:nvPr>
            <p:ph idx="100" hasCustomPrompt="1"/>
          </p:nvPr>
        </p:nvSpPr>
        <p:spPr>
          <a:xfrm>
            <a:off x="228600" y="228600"/>
            <a:ext cx="3838346" cy="6400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r>
              <a:rPr lang="en-US" sz="1600" dirty="0">
                <a:solidFill>
                  <a:schemeClr val="accent4"/>
                </a:solidFill>
              </a:rPr>
              <a:t>Click the icon to add a Sector67 lamp photo</a:t>
            </a:r>
            <a:endParaRPr lang="en-US" sz="1600" dirty="0"/>
          </a:p>
        </p:txBody>
      </p:sp>
      <p:sp>
        <p:nvSpPr>
          <p:cNvPr id="3" name="Text 0"/>
          <p:cNvSpPr/>
          <p:nvPr>
            <p:ph idx="101" hasCustomPrompt="1"/>
          </p:nvPr>
        </p:nvSpPr>
        <p:spPr>
          <a:xfrm>
            <a:off x="4176674" y="228600"/>
            <a:ext cx="3838346" cy="6400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r>
              <a:rPr lang="en-US" sz="1600" dirty="0">
                <a:solidFill>
                  <a:schemeClr val="accent4"/>
                </a:solidFill>
              </a:rPr>
              <a:t>Click the icon to add a Sector67 lamp photo</a:t>
            </a:r>
            <a:endParaRPr lang="en-US" sz="1600" dirty="0"/>
          </a:p>
        </p:txBody>
      </p:sp>
      <p:sp>
        <p:nvSpPr>
          <p:cNvPr id="4" name="Text 0"/>
          <p:cNvSpPr/>
          <p:nvPr>
            <p:ph idx="102" hasCustomPrompt="1"/>
          </p:nvPr>
        </p:nvSpPr>
        <p:spPr>
          <a:xfrm>
            <a:off x="8124749" y="228600"/>
            <a:ext cx="3838346" cy="6400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r>
              <a:rPr lang="en-US" sz="1600" dirty="0">
                <a:solidFill>
                  <a:schemeClr val="accent4"/>
                </a:solidFill>
              </a:rPr>
              <a:t>Click the icon to add a Sector67 lamp photo</a:t>
            </a:r>
            <a:endParaRPr lang="en-US" sz="16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IC_2_NEXT">
    <p:bg>
      <p:bgPr>
        <a:solidFill>
          <a:srgbClr val="14182B"/>
        </a:solidFill>
      </p:bgPr>
    </p:bg>
    <p:spTree>
      <p:nvGrpSpPr>
        <p:cNvPr id="1" name=""/>
        <p:cNvGrpSpPr/>
        <p:nvPr/>
      </p:nvGrpSpPr>
      <p:grpSpPr>
        <a:xfrm>
          <a:off x="0" y="0"/>
          <a:ext cx="0" cy="0"/>
          <a:chOff x="0" y="0"/>
          <a:chExt cx="0" cy="0"/>
        </a:xfrm>
      </p:grpSpPr>
      <p:sp>
        <p:nvSpPr>
          <p:cNvPr id="2" name="Text 0"/>
          <p:cNvSpPr/>
          <p:nvPr>
            <p:ph idx="100" hasCustomPrompt="1"/>
          </p:nvPr>
        </p:nvSpPr>
        <p:spPr>
          <a:xfrm>
            <a:off x="6150712" y="228600"/>
            <a:ext cx="5812384" cy="6400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r>
              <a:rPr lang="en-US" sz="1600" dirty="0">
                <a:solidFill>
                  <a:schemeClr val="accent4"/>
                </a:solidFill>
              </a:rPr>
              <a:t>Click the icon to add a WebXR screenshot</a:t>
            </a: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slideLayout" Target="../slideLayouts/slideLayout4.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slideLayout" Target="../slideLayouts/slideLayout4.xml"/><Relationship Id="rId1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jpeg"/><Relationship Id="rId3" Type="http://schemas.openxmlformats.org/officeDocument/2006/relationships/image" Target="../media/image-12-3.jpeg"/><Relationship Id="rId4" Type="http://schemas.openxmlformats.org/officeDocument/2006/relationships/image" Target="../media/image-12-4.jpe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video" Target="../media/media-14-1.mp4"/><Relationship Id="rId2" Type="http://schemas.microsoft.com/office/2007/relationships/media" Target="../media/media-14-1.mp4"/><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8.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548640" y="2011680"/>
            <a:ext cx="6035040" cy="137160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Wanderers Star</a:t>
            </a:r>
            <a:endParaRPr lang="en-US" sz="5400" dirty="0"/>
          </a:p>
        </p:txBody>
      </p:sp>
      <p:sp>
        <p:nvSpPr>
          <p:cNvPr id="3" name="Text 0"/>
          <p:cNvSpPr/>
          <p:nvPr>
            <p:ph idx="102" type="body" hasCustomPrompt="1"/>
          </p:nvPr>
        </p:nvSpPr>
        <p:spPr>
          <a:xfrm>
            <a:off x="548640" y="3520440"/>
            <a:ext cx="5852160" cy="1463040"/>
          </a:xfrm>
          <a:prstGeom prst="rect">
            <a:avLst/>
          </a:prstGeom>
          <a:noFill/>
          <a:ln/>
        </p:spPr>
        <p:txBody>
          <a:bodyPr wrap="square" lIns="0" tIns="0" rIns="0" bIns="0" rtlCol="0" anchor="t"/>
          <a:lstStyle/>
          <a:p>
            <a:pPr indent="0" marL="0">
              <a:buNone/>
            </a:pPr>
            <a:r>
              <a:rPr lang="en-US" sz="2000" dirty="0">
                <a:solidFill>
                  <a:schemeClr val="accent6"/>
                </a:solidFill>
              </a:rPr>
              <a:t>A laser-cut, light-up small stellated dodecahedron: 60 golden triangles, 60 patterns</a:t>
            </a:r>
            <a:endParaRPr lang="en-US" sz="2000" dirty="0"/>
          </a:p>
        </p:txBody>
      </p:sp>
      <p:pic>
        <p:nvPicPr>
          <p:cNvPr id="4" name="Image 0" descr="Rendering of the small stellated dodecahedron">    </p:cNvPr>
          <p:cNvPicPr>
            <a:picLocks noChangeAspect="1"/>
          </p:cNvPicPr>
          <p:nvPr/>
        </p:nvPicPr>
        <p:blipFill>
          <a:blip r:embed="rId1"/>
          <a:stretch>
            <a:fillRect/>
          </a:stretch>
        </p:blipFill>
        <p:spPr>
          <a:xfrm>
            <a:off x="6400800" y="502920"/>
            <a:ext cx="5852160" cy="5852160"/>
          </a:xfrm>
          <a:prstGeom prst="rect">
            <a:avLst/>
          </a:prstGeom>
        </p:spPr>
      </p:pic>
      <p:sp>
        <p:nvSpPr>
          <p:cNvPr id="5" name="Text 2"/>
          <p:cNvSpPr txBox="1"/>
          <p:nvPr/>
        </p:nvSpPr>
        <p:spPr>
          <a:xfrm>
            <a:off x="548640" y="5989320"/>
            <a:ext cx="5486400" cy="365760"/>
          </a:xfrm>
          <a:prstGeom prst="rect">
            <a:avLst/>
          </a:prstGeom>
          <a:noFill/>
          <a:ln/>
        </p:spPr>
        <p:txBody>
          <a:bodyPr wrap="square" lIns="0" tIns="0" rIns="0" bIns="0" rtlCol="0" anchor="ctr"/>
          <a:lstStyle/>
          <a:p>
            <a:pPr indent="0" marL="0">
              <a:buNone/>
            </a:pPr>
            <a:r>
              <a:rPr lang="en-US" sz="1400" b="1" dirty="0">
                <a:solidFill>
                  <a:schemeClr val="accent1"/>
                </a:solidFill>
              </a:rPr>
              <a:t>Sector67 show-and-tell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A small stellated dodecahedron</a:t>
            </a:r>
            <a:endParaRPr lang="en-US" sz="3600" dirty="0"/>
          </a:p>
        </p:txBody>
      </p:sp>
      <p:pic>
        <p:nvPicPr>
          <p:cNvPr id="3" name="Image 0" descr="Small stellated dodecahedron with one golden-triangle panel highlighted in teal">    </p:cNvPr>
          <p:cNvPicPr>
            <a:picLocks noChangeAspect="1"/>
          </p:cNvPicPr>
          <p:nvPr/>
        </p:nvPicPr>
        <p:blipFill>
          <a:blip r:embed="rId1"/>
          <a:stretch>
            <a:fillRect/>
          </a:stretch>
        </p:blipFill>
        <p:spPr>
          <a:xfrm>
            <a:off x="365760" y="1417320"/>
            <a:ext cx="5120640" cy="5120640"/>
          </a:xfrm>
          <a:prstGeom prst="rect">
            <a:avLst/>
          </a:prstGeom>
        </p:spPr>
      </p:pic>
      <p:sp>
        <p:nvSpPr>
          <p:cNvPr id="4" name="stat-0"/>
          <p:cNvSpPr/>
          <p:nvPr/>
        </p:nvSpPr>
        <p:spPr>
          <a:xfrm>
            <a:off x="5513832" y="1600200"/>
            <a:ext cx="1920240" cy="2240280"/>
          </a:xfrm>
          <a:prstGeom prst="roundRect">
            <a:avLst>
              <a:gd name="adj" fmla="val 4762"/>
            </a:avLst>
          </a:prstGeom>
          <a:solidFill>
            <a:schemeClr val="tx2"/>
          </a:solidFill>
          <a:ln w="12700">
            <a:solidFill>
              <a:schemeClr val="tx2"/>
            </a:solidFill>
            <a:prstDash val="solid"/>
          </a:ln>
        </p:spPr>
      </p:sp>
      <p:sp>
        <p:nvSpPr>
          <p:cNvPr id="5" name="Text 2"/>
          <p:cNvSpPr txBox="1"/>
          <p:nvPr/>
        </p:nvSpPr>
        <p:spPr>
          <a:xfrm>
            <a:off x="5696712" y="1828800"/>
            <a:ext cx="1600200" cy="822960"/>
          </a:xfrm>
          <a:prstGeom prst="rect">
            <a:avLst/>
          </a:prstGeom>
          <a:noFill/>
          <a:ln/>
        </p:spPr>
        <p:txBody>
          <a:bodyPr wrap="square" lIns="0" tIns="0" rIns="0" bIns="0" rtlCol="0" anchor="b"/>
          <a:lstStyle/>
          <a:p>
            <a:pPr indent="0" marL="0">
              <a:buNone/>
            </a:pPr>
            <a:r>
              <a:rPr lang="en-US" sz="4200" b="1" dirty="0">
                <a:solidFill>
                  <a:schemeClr val="accent2"/>
                </a:solidFill>
                <a:latin typeface="Cambria" pitchFamily="34" charset="0"/>
                <a:ea typeface="Cambria" pitchFamily="34" charset="-122"/>
                <a:cs typeface="Cambria" pitchFamily="34" charset="-120"/>
              </a:rPr>
              <a:t>60</a:t>
            </a:r>
            <a:endParaRPr lang="en-US" sz="4200" dirty="0"/>
          </a:p>
        </p:txBody>
      </p:sp>
      <p:sp>
        <p:nvSpPr>
          <p:cNvPr id="6" name="Text 3"/>
          <p:cNvSpPr txBox="1"/>
          <p:nvPr/>
        </p:nvSpPr>
        <p:spPr>
          <a:xfrm>
            <a:off x="5696712" y="2743200"/>
            <a:ext cx="1600200" cy="960120"/>
          </a:xfrm>
          <a:prstGeom prst="rect">
            <a:avLst/>
          </a:prstGeom>
          <a:noFill/>
          <a:ln/>
        </p:spPr>
        <p:txBody>
          <a:bodyPr wrap="square" lIns="0" tIns="0" rIns="0" bIns="0" rtlCol="0" anchor="t"/>
          <a:lstStyle/>
          <a:p>
            <a:pPr indent="0" marL="0">
              <a:buNone/>
            </a:pPr>
            <a:r>
              <a:rPr lang="en-US" sz="1500" dirty="0">
                <a:solidFill>
                  <a:schemeClr val="accent6"/>
                </a:solidFill>
              </a:rPr>
              <a:t>golden-triangle panels, each with its own pattern</a:t>
            </a:r>
            <a:endParaRPr lang="en-US" sz="1500" dirty="0"/>
          </a:p>
        </p:txBody>
      </p:sp>
      <p:sp>
        <p:nvSpPr>
          <p:cNvPr id="7" name="stat-1"/>
          <p:cNvSpPr/>
          <p:nvPr/>
        </p:nvSpPr>
        <p:spPr>
          <a:xfrm>
            <a:off x="7571232" y="1600200"/>
            <a:ext cx="1920240" cy="2240280"/>
          </a:xfrm>
          <a:prstGeom prst="roundRect">
            <a:avLst>
              <a:gd name="adj" fmla="val 4762"/>
            </a:avLst>
          </a:prstGeom>
          <a:solidFill>
            <a:schemeClr val="tx2"/>
          </a:solidFill>
          <a:ln w="12700">
            <a:solidFill>
              <a:schemeClr val="tx2"/>
            </a:solidFill>
            <a:prstDash val="solid"/>
          </a:ln>
        </p:spPr>
      </p:sp>
      <p:sp>
        <p:nvSpPr>
          <p:cNvPr id="8" name="Text 5"/>
          <p:cNvSpPr txBox="1"/>
          <p:nvPr/>
        </p:nvSpPr>
        <p:spPr>
          <a:xfrm>
            <a:off x="7754112" y="1828800"/>
            <a:ext cx="1600200" cy="822960"/>
          </a:xfrm>
          <a:prstGeom prst="rect">
            <a:avLst/>
          </a:prstGeom>
          <a:noFill/>
          <a:ln/>
        </p:spPr>
        <p:txBody>
          <a:bodyPr wrap="square" lIns="0" tIns="0" rIns="0" bIns="0" rtlCol="0" anchor="b"/>
          <a:lstStyle/>
          <a:p>
            <a:pPr indent="0" marL="0">
              <a:buNone/>
            </a:pPr>
            <a:r>
              <a:rPr lang="en-US" sz="4200" b="1" dirty="0">
                <a:solidFill>
                  <a:schemeClr val="accent1"/>
                </a:solidFill>
                <a:latin typeface="Cambria" pitchFamily="34" charset="0"/>
                <a:ea typeface="Cambria" pitchFamily="34" charset="-122"/>
                <a:cs typeface="Cambria" pitchFamily="34" charset="-120"/>
              </a:rPr>
              <a:t>12</a:t>
            </a:r>
            <a:endParaRPr lang="en-US" sz="4200" dirty="0"/>
          </a:p>
        </p:txBody>
      </p:sp>
      <p:sp>
        <p:nvSpPr>
          <p:cNvPr id="9" name="Text 6"/>
          <p:cNvSpPr txBox="1"/>
          <p:nvPr/>
        </p:nvSpPr>
        <p:spPr>
          <a:xfrm>
            <a:off x="7754112" y="2743200"/>
            <a:ext cx="1600200" cy="960120"/>
          </a:xfrm>
          <a:prstGeom prst="rect">
            <a:avLst/>
          </a:prstGeom>
          <a:noFill/>
          <a:ln/>
        </p:spPr>
        <p:txBody>
          <a:bodyPr wrap="square" lIns="0" tIns="0" rIns="0" bIns="0" rtlCol="0" anchor="t"/>
          <a:lstStyle/>
          <a:p>
            <a:pPr indent="0" marL="0">
              <a:buNone/>
            </a:pPr>
            <a:r>
              <a:rPr lang="en-US" sz="1500" dirty="0">
                <a:solidFill>
                  <a:schemeClr val="accent6"/>
                </a:solidFill>
              </a:rPr>
              <a:t>star points, 5 panels each</a:t>
            </a:r>
            <a:endParaRPr lang="en-US" sz="1500" dirty="0"/>
          </a:p>
        </p:txBody>
      </p:sp>
      <p:sp>
        <p:nvSpPr>
          <p:cNvPr id="10" name="stat-2"/>
          <p:cNvSpPr/>
          <p:nvPr/>
        </p:nvSpPr>
        <p:spPr>
          <a:xfrm>
            <a:off x="9628632" y="1600200"/>
            <a:ext cx="1920240" cy="2240280"/>
          </a:xfrm>
          <a:prstGeom prst="roundRect">
            <a:avLst>
              <a:gd name="adj" fmla="val 4762"/>
            </a:avLst>
          </a:prstGeom>
          <a:solidFill>
            <a:schemeClr val="tx2"/>
          </a:solidFill>
          <a:ln w="12700">
            <a:solidFill>
              <a:schemeClr val="tx2"/>
            </a:solidFill>
            <a:prstDash val="solid"/>
          </a:ln>
        </p:spPr>
      </p:sp>
      <p:sp>
        <p:nvSpPr>
          <p:cNvPr id="11" name="Text 8"/>
          <p:cNvSpPr txBox="1"/>
          <p:nvPr/>
        </p:nvSpPr>
        <p:spPr>
          <a:xfrm>
            <a:off x="9811512" y="1828800"/>
            <a:ext cx="1600200" cy="822960"/>
          </a:xfrm>
          <a:prstGeom prst="rect">
            <a:avLst/>
          </a:prstGeom>
          <a:noFill/>
          <a:ln/>
        </p:spPr>
        <p:txBody>
          <a:bodyPr wrap="square" lIns="0" tIns="0" rIns="0" bIns="0" rtlCol="0" anchor="b"/>
          <a:lstStyle/>
          <a:p>
            <a:pPr indent="0" marL="0">
              <a:buNone/>
            </a:pPr>
            <a:r>
              <a:rPr lang="en-US" sz="4200" b="1" dirty="0">
                <a:solidFill>
                  <a:schemeClr val="accent1"/>
                </a:solidFill>
                <a:latin typeface="Cambria" pitchFamily="34" charset="0"/>
                <a:ea typeface="Cambria" pitchFamily="34" charset="-122"/>
                <a:cs typeface="Cambria" pitchFamily="34" charset="-120"/>
              </a:rPr>
              <a:t>12</a:t>
            </a:r>
            <a:endParaRPr lang="en-US" sz="4200" dirty="0"/>
          </a:p>
        </p:txBody>
      </p:sp>
      <p:sp>
        <p:nvSpPr>
          <p:cNvPr id="12" name="Text 9"/>
          <p:cNvSpPr txBox="1"/>
          <p:nvPr/>
        </p:nvSpPr>
        <p:spPr>
          <a:xfrm>
            <a:off x="9811512" y="2743200"/>
            <a:ext cx="1600200" cy="960120"/>
          </a:xfrm>
          <a:prstGeom prst="rect">
            <a:avLst/>
          </a:prstGeom>
          <a:noFill/>
          <a:ln/>
        </p:spPr>
        <p:txBody>
          <a:bodyPr wrap="square" lIns="0" tIns="0" rIns="0" bIns="0" rtlCol="0" anchor="t"/>
          <a:lstStyle/>
          <a:p>
            <a:pPr indent="0" marL="0">
              <a:buNone/>
            </a:pPr>
            <a:r>
              <a:rPr lang="en-US" sz="1500" dirty="0">
                <a:solidFill>
                  <a:schemeClr val="accent6"/>
                </a:solidFill>
              </a:rPr>
              <a:t>pentagon bases hidden in the core</a:t>
            </a:r>
            <a:endParaRPr lang="en-US" sz="1500" dirty="0"/>
          </a:p>
        </p:txBody>
      </p:sp>
      <p:sp>
        <p:nvSpPr>
          <p:cNvPr id="13" name="stat-3"/>
          <p:cNvSpPr/>
          <p:nvPr/>
        </p:nvSpPr>
        <p:spPr>
          <a:xfrm>
            <a:off x="5513832" y="4023360"/>
            <a:ext cx="1920240" cy="2240280"/>
          </a:xfrm>
          <a:prstGeom prst="roundRect">
            <a:avLst>
              <a:gd name="adj" fmla="val 4762"/>
            </a:avLst>
          </a:prstGeom>
          <a:solidFill>
            <a:schemeClr val="tx2"/>
          </a:solidFill>
          <a:ln w="12700">
            <a:solidFill>
              <a:schemeClr val="tx2"/>
            </a:solidFill>
            <a:prstDash val="solid"/>
          </a:ln>
        </p:spPr>
      </p:sp>
      <p:sp>
        <p:nvSpPr>
          <p:cNvPr id="14" name="Text 11"/>
          <p:cNvSpPr txBox="1"/>
          <p:nvPr/>
        </p:nvSpPr>
        <p:spPr>
          <a:xfrm>
            <a:off x="5696712" y="4251960"/>
            <a:ext cx="1600200" cy="822960"/>
          </a:xfrm>
          <a:prstGeom prst="rect">
            <a:avLst/>
          </a:prstGeom>
          <a:noFill/>
          <a:ln/>
        </p:spPr>
        <p:txBody>
          <a:bodyPr wrap="square" lIns="0" tIns="0" rIns="0" bIns="0" rtlCol="0" anchor="b"/>
          <a:lstStyle/>
          <a:p>
            <a:pPr indent="0" marL="0">
              <a:buNone/>
            </a:pPr>
            <a:r>
              <a:rPr lang="en-US" sz="3000" b="1" dirty="0">
                <a:solidFill>
                  <a:schemeClr val="accent1"/>
                </a:solidFill>
                <a:latin typeface="Cambria" pitchFamily="34" charset="0"/>
                <a:ea typeface="Cambria" pitchFamily="34" charset="-122"/>
                <a:cs typeface="Cambria" pitchFamily="34" charset="-120"/>
              </a:rPr>
              <a:t>≈75 cm</a:t>
            </a:r>
            <a:endParaRPr lang="en-US" sz="3000" dirty="0"/>
          </a:p>
        </p:txBody>
      </p:sp>
      <p:sp>
        <p:nvSpPr>
          <p:cNvPr id="15" name="Text 12"/>
          <p:cNvSpPr txBox="1"/>
          <p:nvPr/>
        </p:nvSpPr>
        <p:spPr>
          <a:xfrm>
            <a:off x="5696712" y="5166360"/>
            <a:ext cx="1600200" cy="960120"/>
          </a:xfrm>
          <a:prstGeom prst="rect">
            <a:avLst/>
          </a:prstGeom>
          <a:noFill/>
          <a:ln/>
        </p:spPr>
        <p:txBody>
          <a:bodyPr wrap="square" lIns="0" tIns="0" rIns="0" bIns="0" rtlCol="0" anchor="t"/>
          <a:lstStyle/>
          <a:p>
            <a:pPr indent="0" marL="0">
              <a:buNone/>
            </a:pPr>
            <a:r>
              <a:rPr lang="en-US" sz="1500" dirty="0">
                <a:solidFill>
                  <a:schemeClr val="accent6"/>
                </a:solidFill>
              </a:rPr>
              <a:t>tip to tip</a:t>
            </a:r>
            <a:endParaRPr lang="en-US" sz="1500" dirty="0"/>
          </a:p>
        </p:txBody>
      </p:sp>
      <p:sp>
        <p:nvSpPr>
          <p:cNvPr id="16" name="stat-4"/>
          <p:cNvSpPr/>
          <p:nvPr/>
        </p:nvSpPr>
        <p:spPr>
          <a:xfrm>
            <a:off x="7571232" y="4023360"/>
            <a:ext cx="1920240" cy="2240280"/>
          </a:xfrm>
          <a:prstGeom prst="roundRect">
            <a:avLst>
              <a:gd name="adj" fmla="val 4762"/>
            </a:avLst>
          </a:prstGeom>
          <a:solidFill>
            <a:schemeClr val="tx2"/>
          </a:solidFill>
          <a:ln w="12700">
            <a:solidFill>
              <a:schemeClr val="tx2"/>
            </a:solidFill>
            <a:prstDash val="solid"/>
          </a:ln>
        </p:spPr>
      </p:sp>
      <p:sp>
        <p:nvSpPr>
          <p:cNvPr id="17" name="Text 14"/>
          <p:cNvSpPr txBox="1"/>
          <p:nvPr/>
        </p:nvSpPr>
        <p:spPr>
          <a:xfrm>
            <a:off x="7754112" y="4251960"/>
            <a:ext cx="1600200" cy="822960"/>
          </a:xfrm>
          <a:prstGeom prst="rect">
            <a:avLst/>
          </a:prstGeom>
          <a:noFill/>
          <a:ln/>
        </p:spPr>
        <p:txBody>
          <a:bodyPr wrap="square" lIns="0" tIns="0" rIns="0" bIns="0" rtlCol="0" anchor="b"/>
          <a:lstStyle/>
          <a:p>
            <a:pPr indent="0" marL="0">
              <a:buNone/>
            </a:pPr>
            <a:r>
              <a:rPr lang="en-US" sz="4200" b="1" dirty="0">
                <a:solidFill>
                  <a:schemeClr val="accent1"/>
                </a:solidFill>
                <a:latin typeface="Cambria" pitchFamily="34" charset="0"/>
                <a:ea typeface="Cambria" pitchFamily="34" charset="-122"/>
                <a:cs typeface="Cambria" pitchFamily="34" charset="-120"/>
              </a:rPr>
              <a:t>36</a:t>
            </a:r>
            <a:endParaRPr lang="en-US" sz="4200" dirty="0"/>
          </a:p>
        </p:txBody>
      </p:sp>
      <p:sp>
        <p:nvSpPr>
          <p:cNvPr id="18" name="Text 15"/>
          <p:cNvSpPr txBox="1"/>
          <p:nvPr/>
        </p:nvSpPr>
        <p:spPr>
          <a:xfrm>
            <a:off x="7754112" y="5166360"/>
            <a:ext cx="1600200" cy="960120"/>
          </a:xfrm>
          <a:prstGeom prst="rect">
            <a:avLst/>
          </a:prstGeom>
          <a:noFill/>
          <a:ln/>
        </p:spPr>
        <p:txBody>
          <a:bodyPr wrap="square" lIns="0" tIns="0" rIns="0" bIns="0" rtlCol="0" anchor="t"/>
          <a:lstStyle/>
          <a:p>
            <a:pPr indent="0" marL="0">
              <a:buNone/>
            </a:pPr>
            <a:r>
              <a:rPr lang="en-US" sz="1500" dirty="0">
                <a:solidFill>
                  <a:schemeClr val="accent6"/>
                </a:solidFill>
              </a:rPr>
              <a:t>addressable RGB LEDs, 3 per point</a:t>
            </a:r>
            <a:endParaRPr lang="en-US" sz="1500" dirty="0"/>
          </a:p>
        </p:txBody>
      </p:sp>
      <p:sp>
        <p:nvSpPr>
          <p:cNvPr id="19" name="stat-5"/>
          <p:cNvSpPr/>
          <p:nvPr/>
        </p:nvSpPr>
        <p:spPr>
          <a:xfrm>
            <a:off x="9628632" y="4023360"/>
            <a:ext cx="1920240" cy="2240280"/>
          </a:xfrm>
          <a:prstGeom prst="roundRect">
            <a:avLst>
              <a:gd name="adj" fmla="val 4762"/>
            </a:avLst>
          </a:prstGeom>
          <a:solidFill>
            <a:schemeClr val="tx2"/>
          </a:solidFill>
          <a:ln w="12700">
            <a:solidFill>
              <a:schemeClr val="tx2"/>
            </a:solidFill>
            <a:prstDash val="solid"/>
          </a:ln>
        </p:spPr>
      </p:sp>
      <p:sp>
        <p:nvSpPr>
          <p:cNvPr id="20" name="Text 17"/>
          <p:cNvSpPr txBox="1"/>
          <p:nvPr/>
        </p:nvSpPr>
        <p:spPr>
          <a:xfrm>
            <a:off x="9811512" y="4251960"/>
            <a:ext cx="1600200" cy="822960"/>
          </a:xfrm>
          <a:prstGeom prst="rect">
            <a:avLst/>
          </a:prstGeom>
          <a:noFill/>
          <a:ln/>
        </p:spPr>
        <p:txBody>
          <a:bodyPr wrap="square" lIns="0" tIns="0" rIns="0" bIns="0" rtlCol="0" anchor="b"/>
          <a:lstStyle/>
          <a:p>
            <a:pPr indent="0" marL="0">
              <a:buNone/>
            </a:pPr>
            <a:r>
              <a:rPr lang="en-US" sz="4200" b="1" dirty="0">
                <a:solidFill>
                  <a:schemeClr val="accent1"/>
                </a:solidFill>
                <a:latin typeface="Cambria" pitchFamily="34" charset="0"/>
                <a:ea typeface="Cambria" pitchFamily="34" charset="-122"/>
                <a:cs typeface="Cambria" pitchFamily="34" charset="-120"/>
              </a:rPr>
              <a:t>1</a:t>
            </a:r>
            <a:endParaRPr lang="en-US" sz="4200" dirty="0"/>
          </a:p>
        </p:txBody>
      </p:sp>
      <p:sp>
        <p:nvSpPr>
          <p:cNvPr id="21" name="Text 18"/>
          <p:cNvSpPr txBox="1"/>
          <p:nvPr/>
        </p:nvSpPr>
        <p:spPr>
          <a:xfrm>
            <a:off x="9811512" y="5166360"/>
            <a:ext cx="1600200" cy="960120"/>
          </a:xfrm>
          <a:prstGeom prst="rect">
            <a:avLst/>
          </a:prstGeom>
          <a:noFill/>
          <a:ln/>
        </p:spPr>
        <p:txBody>
          <a:bodyPr wrap="square" lIns="0" tIns="0" rIns="0" bIns="0" rtlCol="0" anchor="t"/>
          <a:lstStyle/>
          <a:p>
            <a:pPr indent="0" marL="0">
              <a:buNone/>
            </a:pPr>
            <a:r>
              <a:rPr lang="en-US" sz="1500" dirty="0">
                <a:solidFill>
                  <a:schemeClr val="accent6"/>
                </a:solidFill>
              </a:rPr>
              <a:t>ESP32 running the light shows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4415"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Every panel is a golden triangle</a:t>
            </a:r>
            <a:endParaRPr lang="en-US" sz="3600" dirty="0"/>
          </a:p>
        </p:txBody>
      </p:sp>
      <p:pic>
        <p:nvPicPr>
          <p:cNvPr id="3" name="Image 0" descr="Golden triangle with 36 and 72 degree angles, 150 mm base, 242.7 mm legs; teal smaller golden triangle inside">    </p:cNvPr>
          <p:cNvPicPr>
            <a:picLocks noChangeAspect="1"/>
          </p:cNvPicPr>
          <p:nvPr/>
        </p:nvPicPr>
        <p:blipFill>
          <a:blip r:embed="rId1"/>
          <a:stretch>
            <a:fillRect/>
          </a:stretch>
        </p:blipFill>
        <p:spPr>
          <a:xfrm>
            <a:off x="548640" y="1431867"/>
            <a:ext cx="4480560" cy="5091545"/>
          </a:xfrm>
          <a:prstGeom prst="rect">
            <a:avLst/>
          </a:prstGeom>
        </p:spPr>
      </p:pic>
      <p:sp>
        <p:nvSpPr>
          <p:cNvPr id="4" name="Text 1"/>
          <p:cNvSpPr txBox="1"/>
          <p:nvPr/>
        </p:nvSpPr>
        <p:spPr>
          <a:xfrm>
            <a:off x="5486400" y="1645920"/>
            <a:ext cx="612648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ANGLES</a:t>
            </a:r>
            <a:endParaRPr lang="en-US" sz="1200" dirty="0"/>
          </a:p>
        </p:txBody>
      </p:sp>
      <p:sp>
        <p:nvSpPr>
          <p:cNvPr id="5" name="Text 2"/>
          <p:cNvSpPr txBox="1"/>
          <p:nvPr/>
        </p:nvSpPr>
        <p:spPr>
          <a:xfrm>
            <a:off x="5486400" y="1920240"/>
            <a:ext cx="6126480" cy="457200"/>
          </a:xfrm>
          <a:prstGeom prst="rect">
            <a:avLst/>
          </a:prstGeom>
          <a:noFill/>
          <a:ln/>
        </p:spPr>
        <p:txBody>
          <a:bodyPr wrap="square" lIns="0" tIns="0" rIns="0" bIns="0" rtlCol="0" anchor="ctr"/>
          <a:lstStyle/>
          <a:p>
            <a:pPr indent="0" marL="0">
              <a:buNone/>
            </a:pPr>
            <a:r>
              <a:rPr lang="en-US" sz="2600" b="1" dirty="0">
                <a:solidFill>
                  <a:schemeClr val="bg1"/>
                </a:solidFill>
                <a:latin typeface="Cambria" pitchFamily="34" charset="0"/>
                <a:ea typeface="Cambria" pitchFamily="34" charset="-122"/>
                <a:cs typeface="Cambria" pitchFamily="34" charset="-120"/>
              </a:rPr>
              <a:t>36° · 72° · 72°</a:t>
            </a:r>
            <a:endParaRPr lang="en-US" sz="2600" dirty="0"/>
          </a:p>
        </p:txBody>
      </p:sp>
      <p:sp>
        <p:nvSpPr>
          <p:cNvPr id="6" name="Text 3"/>
          <p:cNvSpPr txBox="1"/>
          <p:nvPr/>
        </p:nvSpPr>
        <p:spPr>
          <a:xfrm>
            <a:off x="5486400" y="2395728"/>
            <a:ext cx="6126480" cy="310896"/>
          </a:xfrm>
          <a:prstGeom prst="rect">
            <a:avLst/>
          </a:prstGeom>
          <a:noFill/>
          <a:ln/>
        </p:spPr>
        <p:txBody>
          <a:bodyPr wrap="square" lIns="0" tIns="0" rIns="0" bIns="0" rtlCol="0" anchor="ctr"/>
          <a:lstStyle/>
          <a:p>
            <a:pPr indent="0" marL="0">
              <a:buNone/>
            </a:pPr>
            <a:r>
              <a:rPr lang="en-US" sz="1500" dirty="0">
                <a:solidFill>
                  <a:schemeClr val="accent6"/>
                </a:solidFill>
              </a:rPr>
              <a:t>Angles in a 1 : 2 : 2 ratio; the apex is 36° = 180° ÷ 5</a:t>
            </a:r>
            <a:endParaRPr lang="en-US" sz="1500" dirty="0"/>
          </a:p>
        </p:txBody>
      </p:sp>
      <p:sp>
        <p:nvSpPr>
          <p:cNvPr id="7" name="Text 4"/>
          <p:cNvSpPr txBox="1"/>
          <p:nvPr/>
        </p:nvSpPr>
        <p:spPr>
          <a:xfrm>
            <a:off x="5486400" y="2834640"/>
            <a:ext cx="612648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RATIO</a:t>
            </a:r>
            <a:endParaRPr lang="en-US" sz="1200" dirty="0"/>
          </a:p>
        </p:txBody>
      </p:sp>
      <p:sp>
        <p:nvSpPr>
          <p:cNvPr id="8" name="Text 5"/>
          <p:cNvSpPr txBox="1"/>
          <p:nvPr/>
        </p:nvSpPr>
        <p:spPr>
          <a:xfrm>
            <a:off x="5486400" y="3108960"/>
            <a:ext cx="6126480" cy="457200"/>
          </a:xfrm>
          <a:prstGeom prst="rect">
            <a:avLst/>
          </a:prstGeom>
          <a:noFill/>
          <a:ln/>
        </p:spPr>
        <p:txBody>
          <a:bodyPr wrap="square" lIns="0" tIns="0" rIns="0" bIns="0" rtlCol="0" anchor="ctr"/>
          <a:lstStyle/>
          <a:p>
            <a:pPr indent="0" marL="0">
              <a:buNone/>
            </a:pPr>
            <a:r>
              <a:rPr lang="en-US" sz="2600" b="1" dirty="0">
                <a:solidFill>
                  <a:schemeClr val="bg1"/>
                </a:solidFill>
                <a:latin typeface="Cambria" pitchFamily="34" charset="0"/>
                <a:ea typeface="Cambria" pitchFamily="34" charset="-122"/>
                <a:cs typeface="Cambria" pitchFamily="34" charset="-120"/>
              </a:rPr>
              <a:t>leg ÷ base = φ ≈ 1.618</a:t>
            </a:r>
            <a:endParaRPr lang="en-US" sz="2600" dirty="0"/>
          </a:p>
        </p:txBody>
      </p:sp>
      <p:sp>
        <p:nvSpPr>
          <p:cNvPr id="9" name="Text 6"/>
          <p:cNvSpPr txBox="1"/>
          <p:nvPr/>
        </p:nvSpPr>
        <p:spPr>
          <a:xfrm>
            <a:off x="5486400" y="3584448"/>
            <a:ext cx="6126480" cy="310896"/>
          </a:xfrm>
          <a:prstGeom prst="rect">
            <a:avLst/>
          </a:prstGeom>
          <a:noFill/>
          <a:ln/>
        </p:spPr>
        <p:txBody>
          <a:bodyPr wrap="square" lIns="0" tIns="0" rIns="0" bIns="0" rtlCol="0" anchor="ctr"/>
          <a:lstStyle/>
          <a:p>
            <a:pPr indent="0" marL="0">
              <a:buNone/>
            </a:pPr>
            <a:r>
              <a:rPr lang="en-US" sz="1500" dirty="0">
                <a:solidFill>
                  <a:schemeClr val="accent6"/>
                </a:solidFill>
              </a:rPr>
              <a:t>φ = (1 + √5) ÷ 2, the golden ratio</a:t>
            </a:r>
            <a:endParaRPr lang="en-US" sz="1500" dirty="0"/>
          </a:p>
        </p:txBody>
      </p:sp>
      <p:sp>
        <p:nvSpPr>
          <p:cNvPr id="10" name="Text 7"/>
          <p:cNvSpPr txBox="1"/>
          <p:nvPr/>
        </p:nvSpPr>
        <p:spPr>
          <a:xfrm>
            <a:off x="5486400" y="4023360"/>
            <a:ext cx="612648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MY PANEL</a:t>
            </a:r>
            <a:endParaRPr lang="en-US" sz="1200" dirty="0"/>
          </a:p>
        </p:txBody>
      </p:sp>
      <p:sp>
        <p:nvSpPr>
          <p:cNvPr id="11" name="Text 8"/>
          <p:cNvSpPr txBox="1"/>
          <p:nvPr/>
        </p:nvSpPr>
        <p:spPr>
          <a:xfrm>
            <a:off x="5486400" y="4297680"/>
            <a:ext cx="6126480" cy="457200"/>
          </a:xfrm>
          <a:prstGeom prst="rect">
            <a:avLst/>
          </a:prstGeom>
          <a:noFill/>
          <a:ln/>
        </p:spPr>
        <p:txBody>
          <a:bodyPr wrap="square" lIns="0" tIns="0" rIns="0" bIns="0" rtlCol="0" anchor="ctr"/>
          <a:lstStyle/>
          <a:p>
            <a:pPr indent="0" marL="0">
              <a:buNone/>
            </a:pPr>
            <a:r>
              <a:rPr lang="en-US" sz="2600" b="1" dirty="0">
                <a:solidFill>
                  <a:schemeClr val="bg1"/>
                </a:solidFill>
                <a:latin typeface="Cambria" pitchFamily="34" charset="0"/>
                <a:ea typeface="Cambria" pitchFamily="34" charset="-122"/>
                <a:cs typeface="Cambria" pitchFamily="34" charset="-120"/>
              </a:rPr>
              <a:t>150 × 242.7 × 242.7 mm</a:t>
            </a:r>
            <a:endParaRPr lang="en-US" sz="2600" dirty="0"/>
          </a:p>
        </p:txBody>
      </p:sp>
      <p:sp>
        <p:nvSpPr>
          <p:cNvPr id="12" name="Text 9"/>
          <p:cNvSpPr txBox="1"/>
          <p:nvPr/>
        </p:nvSpPr>
        <p:spPr>
          <a:xfrm>
            <a:off x="5486400" y="4773168"/>
            <a:ext cx="6126480" cy="310896"/>
          </a:xfrm>
          <a:prstGeom prst="rect">
            <a:avLst/>
          </a:prstGeom>
          <a:noFill/>
          <a:ln/>
        </p:spPr>
        <p:txBody>
          <a:bodyPr wrap="square" lIns="0" tIns="0" rIns="0" bIns="0" rtlCol="0" anchor="ctr"/>
          <a:lstStyle/>
          <a:p>
            <a:pPr indent="0" marL="0">
              <a:buNone/>
            </a:pPr>
            <a:r>
              <a:rPr lang="en-US" sz="1500" dirty="0">
                <a:solidFill>
                  <a:schemeClr val="accent6"/>
                </a:solidFill>
              </a:rPr>
              <a:t>Base × legs; height 230.8 mm, area ≈ 173 cm²</a:t>
            </a:r>
            <a:endParaRPr lang="en-US" sz="1500" dirty="0"/>
          </a:p>
        </p:txBody>
      </p:sp>
      <p:sp>
        <p:nvSpPr>
          <p:cNvPr id="13" name="Text 10"/>
          <p:cNvSpPr txBox="1"/>
          <p:nvPr/>
        </p:nvSpPr>
        <p:spPr>
          <a:xfrm>
            <a:off x="5486400" y="5212080"/>
            <a:ext cx="612648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SELF-SIMILAR</a:t>
            </a:r>
            <a:endParaRPr lang="en-US" sz="1200" dirty="0"/>
          </a:p>
        </p:txBody>
      </p:sp>
      <p:sp>
        <p:nvSpPr>
          <p:cNvPr id="14" name="Text 11"/>
          <p:cNvSpPr txBox="1"/>
          <p:nvPr/>
        </p:nvSpPr>
        <p:spPr>
          <a:xfrm>
            <a:off x="5486400" y="5486400"/>
            <a:ext cx="6126480" cy="457200"/>
          </a:xfrm>
          <a:prstGeom prst="rect">
            <a:avLst/>
          </a:prstGeom>
          <a:noFill/>
          <a:ln/>
        </p:spPr>
        <p:txBody>
          <a:bodyPr wrap="square" lIns="0" tIns="0" rIns="0" bIns="0" rtlCol="0" anchor="ctr"/>
          <a:lstStyle/>
          <a:p>
            <a:pPr indent="0" marL="0">
              <a:buNone/>
            </a:pPr>
            <a:r>
              <a:rPr lang="en-US" sz="2600" b="1" dirty="0">
                <a:solidFill>
                  <a:schemeClr val="bg1"/>
                </a:solidFill>
                <a:latin typeface="Cambria" pitchFamily="34" charset="0"/>
                <a:ea typeface="Cambria" pitchFamily="34" charset="-122"/>
                <a:cs typeface="Cambria" pitchFamily="34" charset="-120"/>
              </a:rPr>
              <a:t>Bisect a 72° corner</a:t>
            </a:r>
            <a:endParaRPr lang="en-US" sz="2600" dirty="0"/>
          </a:p>
        </p:txBody>
      </p:sp>
      <p:sp>
        <p:nvSpPr>
          <p:cNvPr id="15" name="Text 12"/>
          <p:cNvSpPr txBox="1"/>
          <p:nvPr/>
        </p:nvSpPr>
        <p:spPr>
          <a:xfrm>
            <a:off x="5486400" y="5961888"/>
            <a:ext cx="6126480" cy="310896"/>
          </a:xfrm>
          <a:prstGeom prst="rect">
            <a:avLst/>
          </a:prstGeom>
          <a:noFill/>
          <a:ln/>
        </p:spPr>
        <p:txBody>
          <a:bodyPr wrap="square" lIns="0" tIns="0" rIns="0" bIns="0" rtlCol="0" anchor="ctr"/>
          <a:lstStyle/>
          <a:p>
            <a:pPr indent="0" marL="0">
              <a:buNone/>
            </a:pPr>
            <a:r>
              <a:rPr lang="en-US" sz="1500" dirty="0">
                <a:solidFill>
                  <a:schemeClr val="accent6"/>
                </a:solidFill>
              </a:rPr>
              <a:t>You get a smaller golden triangle (teal) plus a 36°-36°-108° golden gnomon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Two of my mother's quilts: a kaleidoscope-star quilt and a double wedding ring quilt">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hasCustomPrompt="1"/>
          </p:nvPr>
        </p:nvSpPr>
        <p:spPr>
          <a:xfrm>
            <a:off x="228600" y="228600"/>
            <a:ext cx="11734495" cy="6400800"/>
          </a:xfrm>
          <a:prstGeom prst="rect">
            <a:avLst/>
          </a:prstGeom>
          <a:noFill/>
          <a:ln/>
        </p:spPr>
        <p:txBody>
          <a:bodyPr wrap="square" rtlCol="0" anchor="ctr"/>
          <a:lstStyle/>
          <a:p>
            <a:pPr algn="ctr" indent="0" marL="0">
              <a:buNone/>
            </a:pP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Glowing yellow interlocking-piece swirl lamp">    </p:cNvPr>
          <p:cNvPicPr>
            <a:picLocks noChangeAspect="1"/>
          </p:cNvPicPr>
          <p:nvPr/>
        </p:nvPicPr>
        <p:blipFill>
          <a:blip r:embed="rId1"/>
          <a:stretch>
            <a:fillRect/>
          </a:stretch>
        </p:blipFill>
        <p:spPr>
          <a:xfrm>
            <a:off x="228600" y="228600"/>
            <a:ext cx="3838346" cy="6400800"/>
          </a:xfrm>
          <a:prstGeom prst="rect">
            <a:avLst/>
          </a:prstGeom>
        </p:spPr>
      </p:pic>
      <p:pic>
        <p:nvPicPr>
          <p:cNvPr id="3" name="Image 1" descr="Frosted acrylic stellated star lamp with tabbed edges">    </p:cNvPr>
          <p:cNvPicPr>
            <a:picLocks noChangeAspect="1"/>
          </p:cNvPicPr>
          <p:nvPr/>
        </p:nvPicPr>
        <p:blipFill>
          <a:blip r:embed="rId2"/>
          <a:stretch>
            <a:fillRect/>
          </a:stretch>
        </p:blipFill>
        <p:spPr>
          <a:xfrm>
            <a:off x="8124749" y="228600"/>
            <a:ext cx="3838346" cy="6400800"/>
          </a:xfrm>
          <a:prstGeom prst="rect">
            <a:avLst/>
          </a:prstGeom>
        </p:spPr>
      </p:pic>
      <p:pic>
        <p:nvPicPr>
          <p:cNvPr id="4" name="Image 2" descr="Lamp made of Mountain Dew bottles radiating from a lit core">    </p:cNvPr>
          <p:cNvPicPr>
            <a:picLocks noChangeAspect="1"/>
          </p:cNvPicPr>
          <p:nvPr/>
        </p:nvPicPr>
        <p:blipFill>
          <a:blip r:embed="rId3"/>
          <a:stretch>
            <a:fillRect/>
          </a:stretch>
        </p:blipFill>
        <p:spPr>
          <a:xfrm>
            <a:off x="4176674" y="228600"/>
            <a:ext cx="3838346" cy="64008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over of Tilings &amp; Patterns">    </p:cNvPr>
          <p:cNvPicPr>
            <a:picLocks noChangeAspect="1"/>
          </p:cNvPicPr>
          <p:nvPr/>
        </p:nvPicPr>
        <p:blipFill>
          <a:blip r:embed="rId1"/>
          <a:stretch>
            <a:fillRect/>
          </a:stretch>
        </p:blipFill>
        <p:spPr>
          <a:xfrm>
            <a:off x="228600" y="952427"/>
            <a:ext cx="3728618" cy="4953146"/>
          </a:xfrm>
          <a:prstGeom prst="rect">
            <a:avLst/>
          </a:prstGeom>
        </p:spPr>
      </p:pic>
      <p:pic>
        <p:nvPicPr>
          <p:cNvPr id="3" name="Image 1" descr="Cover of The Symmetries of Things">    </p:cNvPr>
          <p:cNvPicPr>
            <a:picLocks noChangeAspect="1"/>
          </p:cNvPicPr>
          <p:nvPr/>
        </p:nvPicPr>
        <p:blipFill>
          <a:blip r:embed="rId2"/>
          <a:stretch>
            <a:fillRect/>
          </a:stretch>
        </p:blipFill>
        <p:spPr>
          <a:xfrm>
            <a:off x="4231538" y="952427"/>
            <a:ext cx="3728618" cy="4953146"/>
          </a:xfrm>
          <a:prstGeom prst="rect">
            <a:avLst/>
          </a:prstGeom>
        </p:spPr>
      </p:pic>
      <p:pic>
        <p:nvPicPr>
          <p:cNvPr id="4" name="Image 2" descr="Cover of Symmetry: A Mathematical Exploration">    </p:cNvPr>
          <p:cNvPicPr>
            <a:picLocks noChangeAspect="1"/>
          </p:cNvPicPr>
          <p:nvPr/>
        </p:nvPicPr>
        <p:blipFill>
          <a:blip r:embed="rId3"/>
          <a:stretch>
            <a:fillRect/>
          </a:stretch>
        </p:blipFill>
        <p:spPr>
          <a:xfrm>
            <a:off x="8234477" y="952427"/>
            <a:ext cx="3728618" cy="495314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Star-polygon tilings page from Tilings &amp; Patterns">    </p:cNvPr>
          <p:cNvPicPr>
            <a:picLocks noChangeAspect="1"/>
          </p:cNvPicPr>
          <p:nvPr/>
        </p:nvPicPr>
        <p:blipFill>
          <a:blip r:embed="rId1"/>
          <a:stretch>
            <a:fillRect/>
          </a:stretch>
        </p:blipFill>
        <p:spPr>
          <a:xfrm>
            <a:off x="228600" y="228600"/>
            <a:ext cx="3838346" cy="6400800"/>
          </a:xfrm>
          <a:prstGeom prst="rect">
            <a:avLst/>
          </a:prstGeom>
        </p:spPr>
      </p:pic>
      <p:pic>
        <p:nvPicPr>
          <p:cNvPr id="3" name="Image 1" descr="Brick bond orbifold exercises from The Symmetries of Things">    </p:cNvPr>
          <p:cNvPicPr>
            <a:picLocks noChangeAspect="1"/>
          </p:cNvPicPr>
          <p:nvPr/>
        </p:nvPicPr>
        <p:blipFill>
          <a:blip r:embed="rId2"/>
          <a:stretch>
            <a:fillRect/>
          </a:stretch>
        </p:blipFill>
        <p:spPr>
          <a:xfrm>
            <a:off x="4176674" y="228600"/>
            <a:ext cx="3838346" cy="6400800"/>
          </a:xfrm>
          <a:prstGeom prst="rect">
            <a:avLst/>
          </a:prstGeom>
        </p:spPr>
      </p:pic>
      <p:pic>
        <p:nvPicPr>
          <p:cNvPr id="4" name="Image 2" descr="Dodecahedron-icosahedron duality page from Symmetry">    </p:cNvPr>
          <p:cNvPicPr>
            <a:picLocks noChangeAspect="1"/>
          </p:cNvPicPr>
          <p:nvPr/>
        </p:nvPicPr>
        <p:blipFill>
          <a:blip r:embed="rId3"/>
          <a:stretch>
            <a:fillRect/>
          </a:stretch>
        </p:blipFill>
        <p:spPr>
          <a:xfrm>
            <a:off x="8124749" y="228600"/>
            <a:ext cx="3838346" cy="64008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Wallpaper group p1 shown with repeated letter F">    </p:cNvPr>
          <p:cNvPicPr>
            <a:picLocks noChangeAspect="1"/>
          </p:cNvPicPr>
          <p:nvPr/>
        </p:nvPicPr>
        <p:blipFill>
          <a:blip r:embed="rId1"/>
          <a:stretch>
            <a:fillRect/>
          </a:stretch>
        </p:blipFill>
        <p:spPr>
          <a:xfrm>
            <a:off x="298552" y="553212"/>
            <a:ext cx="1856232" cy="1856232"/>
          </a:xfrm>
          <a:prstGeom prst="rect">
            <a:avLst/>
          </a:prstGeom>
        </p:spPr>
      </p:pic>
      <p:pic>
        <p:nvPicPr>
          <p:cNvPr id="3" name="Image 1" descr="Wallpaper group p2 shown with repeated letter F">    </p:cNvPr>
          <p:cNvPicPr>
            <a:picLocks noChangeAspect="1"/>
          </p:cNvPicPr>
          <p:nvPr/>
        </p:nvPicPr>
        <p:blipFill>
          <a:blip r:embed="rId2"/>
          <a:stretch>
            <a:fillRect/>
          </a:stretch>
        </p:blipFill>
        <p:spPr>
          <a:xfrm>
            <a:off x="2246224" y="553212"/>
            <a:ext cx="1856232" cy="1856232"/>
          </a:xfrm>
          <a:prstGeom prst="rect">
            <a:avLst/>
          </a:prstGeom>
        </p:spPr>
      </p:pic>
      <p:pic>
        <p:nvPicPr>
          <p:cNvPr id="4" name="Image 2" descr="Wallpaper group pm shown with repeated letter F">    </p:cNvPr>
          <p:cNvPicPr>
            <a:picLocks noChangeAspect="1"/>
          </p:cNvPicPr>
          <p:nvPr/>
        </p:nvPicPr>
        <p:blipFill>
          <a:blip r:embed="rId3"/>
          <a:stretch>
            <a:fillRect/>
          </a:stretch>
        </p:blipFill>
        <p:spPr>
          <a:xfrm>
            <a:off x="4193896" y="553212"/>
            <a:ext cx="1856232" cy="1856232"/>
          </a:xfrm>
          <a:prstGeom prst="rect">
            <a:avLst/>
          </a:prstGeom>
        </p:spPr>
      </p:pic>
      <p:pic>
        <p:nvPicPr>
          <p:cNvPr id="5" name="Image 3" descr="Wallpaper group pg shown with repeated letter F">    </p:cNvPr>
          <p:cNvPicPr>
            <a:picLocks noChangeAspect="1"/>
          </p:cNvPicPr>
          <p:nvPr/>
        </p:nvPicPr>
        <p:blipFill>
          <a:blip r:embed="rId4"/>
          <a:stretch>
            <a:fillRect/>
          </a:stretch>
        </p:blipFill>
        <p:spPr>
          <a:xfrm>
            <a:off x="6141568" y="553212"/>
            <a:ext cx="1856232" cy="1856232"/>
          </a:xfrm>
          <a:prstGeom prst="rect">
            <a:avLst/>
          </a:prstGeom>
        </p:spPr>
      </p:pic>
      <p:pic>
        <p:nvPicPr>
          <p:cNvPr id="6" name="Image 4" descr="Wallpaper group cm shown with repeated letter F">    </p:cNvPr>
          <p:cNvPicPr>
            <a:picLocks noChangeAspect="1"/>
          </p:cNvPicPr>
          <p:nvPr/>
        </p:nvPicPr>
        <p:blipFill>
          <a:blip r:embed="rId5"/>
          <a:stretch>
            <a:fillRect/>
          </a:stretch>
        </p:blipFill>
        <p:spPr>
          <a:xfrm>
            <a:off x="8089240" y="553212"/>
            <a:ext cx="1856232" cy="1856232"/>
          </a:xfrm>
          <a:prstGeom prst="rect">
            <a:avLst/>
          </a:prstGeom>
        </p:spPr>
      </p:pic>
      <p:pic>
        <p:nvPicPr>
          <p:cNvPr id="7" name="Image 5" descr="Wallpaper group pmm shown with repeated letter F">    </p:cNvPr>
          <p:cNvPicPr>
            <a:picLocks noChangeAspect="1"/>
          </p:cNvPicPr>
          <p:nvPr/>
        </p:nvPicPr>
        <p:blipFill>
          <a:blip r:embed="rId6"/>
          <a:stretch>
            <a:fillRect/>
          </a:stretch>
        </p:blipFill>
        <p:spPr>
          <a:xfrm>
            <a:off x="10036912" y="553212"/>
            <a:ext cx="1856232" cy="1856232"/>
          </a:xfrm>
          <a:prstGeom prst="rect">
            <a:avLst/>
          </a:prstGeom>
        </p:spPr>
      </p:pic>
      <p:pic>
        <p:nvPicPr>
          <p:cNvPr id="8" name="Image 6" descr="Wallpaper group pmg shown with repeated letter F">    </p:cNvPr>
          <p:cNvPicPr>
            <a:picLocks noChangeAspect="1"/>
          </p:cNvPicPr>
          <p:nvPr/>
        </p:nvPicPr>
        <p:blipFill>
          <a:blip r:embed="rId7"/>
          <a:stretch>
            <a:fillRect/>
          </a:stretch>
        </p:blipFill>
        <p:spPr>
          <a:xfrm>
            <a:off x="298552" y="2500884"/>
            <a:ext cx="1856232" cy="1856232"/>
          </a:xfrm>
          <a:prstGeom prst="rect">
            <a:avLst/>
          </a:prstGeom>
        </p:spPr>
      </p:pic>
      <p:pic>
        <p:nvPicPr>
          <p:cNvPr id="9" name="Image 7" descr="Wallpaper group pgg shown with repeated letter F">    </p:cNvPr>
          <p:cNvPicPr>
            <a:picLocks noChangeAspect="1"/>
          </p:cNvPicPr>
          <p:nvPr/>
        </p:nvPicPr>
        <p:blipFill>
          <a:blip r:embed="rId8"/>
          <a:stretch>
            <a:fillRect/>
          </a:stretch>
        </p:blipFill>
        <p:spPr>
          <a:xfrm>
            <a:off x="2246224" y="2500884"/>
            <a:ext cx="1856232" cy="1856232"/>
          </a:xfrm>
          <a:prstGeom prst="rect">
            <a:avLst/>
          </a:prstGeom>
        </p:spPr>
      </p:pic>
      <p:pic>
        <p:nvPicPr>
          <p:cNvPr id="10" name="Image 8" descr="Wallpaper group cmm shown with repeated letter F">    </p:cNvPr>
          <p:cNvPicPr>
            <a:picLocks noChangeAspect="1"/>
          </p:cNvPicPr>
          <p:nvPr/>
        </p:nvPicPr>
        <p:blipFill>
          <a:blip r:embed="rId9"/>
          <a:stretch>
            <a:fillRect/>
          </a:stretch>
        </p:blipFill>
        <p:spPr>
          <a:xfrm>
            <a:off x="4193896" y="2500884"/>
            <a:ext cx="1856232" cy="1856232"/>
          </a:xfrm>
          <a:prstGeom prst="rect">
            <a:avLst/>
          </a:prstGeom>
        </p:spPr>
      </p:pic>
      <p:pic>
        <p:nvPicPr>
          <p:cNvPr id="11" name="Image 9" descr="Wallpaper group p4 shown with repeated letter F">    </p:cNvPr>
          <p:cNvPicPr>
            <a:picLocks noChangeAspect="1"/>
          </p:cNvPicPr>
          <p:nvPr/>
        </p:nvPicPr>
        <p:blipFill>
          <a:blip r:embed="rId10"/>
          <a:stretch>
            <a:fillRect/>
          </a:stretch>
        </p:blipFill>
        <p:spPr>
          <a:xfrm>
            <a:off x="6141568" y="2500884"/>
            <a:ext cx="1856232" cy="1856232"/>
          </a:xfrm>
          <a:prstGeom prst="rect">
            <a:avLst/>
          </a:prstGeom>
        </p:spPr>
      </p:pic>
      <p:pic>
        <p:nvPicPr>
          <p:cNvPr id="12" name="Image 10" descr="Wallpaper group p4m shown with repeated letter F">    </p:cNvPr>
          <p:cNvPicPr>
            <a:picLocks noChangeAspect="1"/>
          </p:cNvPicPr>
          <p:nvPr/>
        </p:nvPicPr>
        <p:blipFill>
          <a:blip r:embed="rId11"/>
          <a:stretch>
            <a:fillRect/>
          </a:stretch>
        </p:blipFill>
        <p:spPr>
          <a:xfrm>
            <a:off x="8089240" y="2500884"/>
            <a:ext cx="1856232" cy="1856232"/>
          </a:xfrm>
          <a:prstGeom prst="rect">
            <a:avLst/>
          </a:prstGeom>
        </p:spPr>
      </p:pic>
      <p:pic>
        <p:nvPicPr>
          <p:cNvPr id="13" name="Image 11" descr="Wallpaper group p4g shown with repeated letter F">    </p:cNvPr>
          <p:cNvPicPr>
            <a:picLocks noChangeAspect="1"/>
          </p:cNvPicPr>
          <p:nvPr/>
        </p:nvPicPr>
        <p:blipFill>
          <a:blip r:embed="rId12"/>
          <a:stretch>
            <a:fillRect/>
          </a:stretch>
        </p:blipFill>
        <p:spPr>
          <a:xfrm>
            <a:off x="10036912" y="2500884"/>
            <a:ext cx="1856232" cy="1856232"/>
          </a:xfrm>
          <a:prstGeom prst="rect">
            <a:avLst/>
          </a:prstGeom>
        </p:spPr>
      </p:pic>
      <p:pic>
        <p:nvPicPr>
          <p:cNvPr id="14" name="Image 12" descr="Wallpaper group p3 shown with repeated letter F">    </p:cNvPr>
          <p:cNvPicPr>
            <a:picLocks noChangeAspect="1"/>
          </p:cNvPicPr>
          <p:nvPr/>
        </p:nvPicPr>
        <p:blipFill>
          <a:blip r:embed="rId13"/>
          <a:stretch>
            <a:fillRect/>
          </a:stretch>
        </p:blipFill>
        <p:spPr>
          <a:xfrm>
            <a:off x="1272388" y="4448556"/>
            <a:ext cx="1856232" cy="1856232"/>
          </a:xfrm>
          <a:prstGeom prst="rect">
            <a:avLst/>
          </a:prstGeom>
        </p:spPr>
      </p:pic>
      <p:pic>
        <p:nvPicPr>
          <p:cNvPr id="15" name="Image 13" descr="Wallpaper group p3m1 shown with repeated letter F">    </p:cNvPr>
          <p:cNvPicPr>
            <a:picLocks noChangeAspect="1"/>
          </p:cNvPicPr>
          <p:nvPr/>
        </p:nvPicPr>
        <p:blipFill>
          <a:blip r:embed="rId14"/>
          <a:stretch>
            <a:fillRect/>
          </a:stretch>
        </p:blipFill>
        <p:spPr>
          <a:xfrm>
            <a:off x="3220060" y="4448556"/>
            <a:ext cx="1856232" cy="1856232"/>
          </a:xfrm>
          <a:prstGeom prst="rect">
            <a:avLst/>
          </a:prstGeom>
        </p:spPr>
      </p:pic>
      <p:pic>
        <p:nvPicPr>
          <p:cNvPr id="16" name="Image 14" descr="Wallpaper group p31m shown with repeated letter F">    </p:cNvPr>
          <p:cNvPicPr>
            <a:picLocks noChangeAspect="1"/>
          </p:cNvPicPr>
          <p:nvPr/>
        </p:nvPicPr>
        <p:blipFill>
          <a:blip r:embed="rId15"/>
          <a:stretch>
            <a:fillRect/>
          </a:stretch>
        </p:blipFill>
        <p:spPr>
          <a:xfrm>
            <a:off x="5167732" y="4448556"/>
            <a:ext cx="1856232" cy="1856232"/>
          </a:xfrm>
          <a:prstGeom prst="rect">
            <a:avLst/>
          </a:prstGeom>
        </p:spPr>
      </p:pic>
      <p:pic>
        <p:nvPicPr>
          <p:cNvPr id="17" name="Image 15" descr="Wallpaper group p6 shown with repeated letter F">    </p:cNvPr>
          <p:cNvPicPr>
            <a:picLocks noChangeAspect="1"/>
          </p:cNvPicPr>
          <p:nvPr/>
        </p:nvPicPr>
        <p:blipFill>
          <a:blip r:embed="rId16"/>
          <a:stretch>
            <a:fillRect/>
          </a:stretch>
        </p:blipFill>
        <p:spPr>
          <a:xfrm>
            <a:off x="7115404" y="4448556"/>
            <a:ext cx="1856232" cy="1856232"/>
          </a:xfrm>
          <a:prstGeom prst="rect">
            <a:avLst/>
          </a:prstGeom>
        </p:spPr>
      </p:pic>
      <p:pic>
        <p:nvPicPr>
          <p:cNvPr id="18" name="Image 16" descr="Wallpaper group p6m shown with repeated letter F">    </p:cNvPr>
          <p:cNvPicPr>
            <a:picLocks noChangeAspect="1"/>
          </p:cNvPicPr>
          <p:nvPr/>
        </p:nvPicPr>
        <p:blipFill>
          <a:blip r:embed="rId17"/>
          <a:stretch>
            <a:fillRect/>
          </a:stretch>
        </p:blipFill>
        <p:spPr>
          <a:xfrm>
            <a:off x="9063076" y="4448556"/>
            <a:ext cx="1856232" cy="185623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lywood pentagon base">    </p:cNvPr>
          <p:cNvPicPr>
            <a:picLocks noChangeAspect="1"/>
          </p:cNvPicPr>
          <p:nvPr/>
        </p:nvPicPr>
        <p:blipFill>
          <a:blip r:embed="rId1"/>
          <a:stretch>
            <a:fillRect/>
          </a:stretch>
        </p:blipFill>
        <p:spPr>
          <a:xfrm>
            <a:off x="4176674" y="228600"/>
            <a:ext cx="3838346" cy="3145536"/>
          </a:xfrm>
          <a:prstGeom prst="rect">
            <a:avLst/>
          </a:prstGeom>
        </p:spPr>
      </p:pic>
      <p:pic>
        <p:nvPicPr>
          <p:cNvPr id="3" name="Image 1" descr="Laser-cut plywood panel">    </p:cNvPr>
          <p:cNvPicPr>
            <a:picLocks noChangeAspect="1"/>
          </p:cNvPicPr>
          <p:nvPr/>
        </p:nvPicPr>
        <p:blipFill>
          <a:blip r:embed="rId2"/>
          <a:stretch>
            <a:fillRect/>
          </a:stretch>
        </p:blipFill>
        <p:spPr>
          <a:xfrm>
            <a:off x="228600" y="228600"/>
            <a:ext cx="3838346" cy="3145536"/>
          </a:xfrm>
          <a:prstGeom prst="rect">
            <a:avLst/>
          </a:prstGeom>
        </p:spPr>
      </p:pic>
      <p:pic>
        <p:nvPicPr>
          <p:cNvPr id="4" name="Image 2" descr="WS2812B LED strip">    </p:cNvPr>
          <p:cNvPicPr>
            <a:picLocks noChangeAspect="1"/>
          </p:cNvPicPr>
          <p:nvPr/>
        </p:nvPicPr>
        <p:blipFill>
          <a:blip r:embed="rId3"/>
          <a:stretch>
            <a:fillRect/>
          </a:stretch>
        </p:blipFill>
        <p:spPr>
          <a:xfrm>
            <a:off x="228600" y="3483864"/>
            <a:ext cx="3838346" cy="3145536"/>
          </a:xfrm>
          <a:prstGeom prst="rect">
            <a:avLst/>
          </a:prstGeom>
        </p:spPr>
      </p:pic>
      <p:pic>
        <p:nvPicPr>
          <p:cNvPr id="5" name="Image 3" descr="Zip ties">    </p:cNvPr>
          <p:cNvPicPr>
            <a:picLocks noChangeAspect="1"/>
          </p:cNvPicPr>
          <p:nvPr/>
        </p:nvPicPr>
        <p:blipFill>
          <a:blip r:embed="rId4"/>
          <a:stretch>
            <a:fillRect/>
          </a:stretch>
        </p:blipFill>
        <p:spPr>
          <a:xfrm>
            <a:off x="8124749" y="228600"/>
            <a:ext cx="3838346" cy="3145536"/>
          </a:xfrm>
          <a:prstGeom prst="rect">
            <a:avLst/>
          </a:prstGeom>
        </p:spPr>
      </p:pic>
      <p:pic>
        <p:nvPicPr>
          <p:cNvPr id="6" name="Image 4" descr="3-pin 20 AWG extension wire">    </p:cNvPr>
          <p:cNvPicPr>
            <a:picLocks noChangeAspect="1"/>
          </p:cNvPicPr>
          <p:nvPr/>
        </p:nvPicPr>
        <p:blipFill>
          <a:blip r:embed="rId5"/>
          <a:stretch>
            <a:fillRect/>
          </a:stretch>
        </p:blipFill>
        <p:spPr>
          <a:xfrm>
            <a:off x="4176674" y="3483864"/>
            <a:ext cx="3838346" cy="3145536"/>
          </a:xfrm>
          <a:prstGeom prst="rect">
            <a:avLst/>
          </a:prstGeom>
        </p:spPr>
      </p:pic>
      <p:pic>
        <p:nvPicPr>
          <p:cNvPr id="7" name="Image 5" descr="ESP32 dev board">    </p:cNvPr>
          <p:cNvPicPr>
            <a:picLocks noChangeAspect="1"/>
          </p:cNvPicPr>
          <p:nvPr/>
        </p:nvPicPr>
        <p:blipFill>
          <a:blip r:embed="rId6"/>
          <a:stretch>
            <a:fillRect/>
          </a:stretch>
        </p:blipFill>
        <p:spPr>
          <a:xfrm>
            <a:off x="8124749" y="3483864"/>
            <a:ext cx="3838346" cy="314553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Freshly cut panels on the laser cutter honeycomb bed">    </p:cNvPr>
          <p:cNvPicPr>
            <a:picLocks noChangeAspect="1"/>
          </p:cNvPicPr>
          <p:nvPr/>
        </p:nvPicPr>
        <p:blipFill>
          <a:blip r:embed="rId1"/>
          <a:stretch>
            <a:fillRect/>
          </a:stretch>
        </p:blipFill>
        <p:spPr>
          <a:xfrm>
            <a:off x="228600" y="228600"/>
            <a:ext cx="5812384" cy="6400800"/>
          </a:xfrm>
          <a:prstGeom prst="rect">
            <a:avLst/>
          </a:prstGeom>
        </p:spPr>
      </p:pic>
      <p:pic>
        <p:nvPicPr>
          <p:cNvPr id="3" name="Image 1" descr="Ten finished laser-cut panels laid out in a ring">    </p:cNvPr>
          <p:cNvPicPr>
            <a:picLocks noChangeAspect="1"/>
          </p:cNvPicPr>
          <p:nvPr/>
        </p:nvPicPr>
        <p:blipFill>
          <a:blip r:embed="rId2"/>
          <a:stretch>
            <a:fillRect/>
          </a:stretch>
        </p:blipFill>
        <p:spPr>
          <a:xfrm>
            <a:off x="6150712" y="228600"/>
            <a:ext cx="5812384" cy="64008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Notebook spread with hand-written OpenSCAD pattern code">    </p:cNvPr>
          <p:cNvPicPr>
            <a:picLocks noChangeAspect="1"/>
          </p:cNvPicPr>
          <p:nvPr/>
        </p:nvPicPr>
        <p:blipFill>
          <a:blip r:embed="rId1"/>
          <a:stretch>
            <a:fillRect/>
          </a:stretch>
        </p:blipFill>
        <p:spPr>
          <a:xfrm>
            <a:off x="228600" y="228600"/>
            <a:ext cx="5812384" cy="3145536"/>
          </a:xfrm>
          <a:prstGeom prst="rect">
            <a:avLst/>
          </a:prstGeom>
        </p:spPr>
      </p:pic>
      <p:pic>
        <p:nvPicPr>
          <p:cNvPr id="3" name="Image 1" descr="Notebook spread with hand-written OpenSCAD pattern code">    </p:cNvPr>
          <p:cNvPicPr>
            <a:picLocks noChangeAspect="1"/>
          </p:cNvPicPr>
          <p:nvPr/>
        </p:nvPicPr>
        <p:blipFill>
          <a:blip r:embed="rId2"/>
          <a:stretch>
            <a:fillRect/>
          </a:stretch>
        </p:blipFill>
        <p:spPr>
          <a:xfrm>
            <a:off x="6150712" y="228600"/>
            <a:ext cx="5812384" cy="3145536"/>
          </a:xfrm>
          <a:prstGeom prst="rect">
            <a:avLst/>
          </a:prstGeom>
        </p:spPr>
      </p:pic>
      <p:pic>
        <p:nvPicPr>
          <p:cNvPr id="4" name="Image 2" descr="Notebook spread with hand-written OpenSCAD pattern code">    </p:cNvPr>
          <p:cNvPicPr>
            <a:picLocks noChangeAspect="1"/>
          </p:cNvPicPr>
          <p:nvPr/>
        </p:nvPicPr>
        <p:blipFill>
          <a:blip r:embed="rId3"/>
          <a:stretch>
            <a:fillRect/>
          </a:stretch>
        </p:blipFill>
        <p:spPr>
          <a:xfrm>
            <a:off x="228600" y="3483864"/>
            <a:ext cx="5812384" cy="3145536"/>
          </a:xfrm>
          <a:prstGeom prst="rect">
            <a:avLst/>
          </a:prstGeom>
        </p:spPr>
      </p:pic>
      <p:pic>
        <p:nvPicPr>
          <p:cNvPr id="5" name="Image 3" descr="Notebook spread with hand-written OpenSCAD pattern code">    </p:cNvPr>
          <p:cNvPicPr>
            <a:picLocks noChangeAspect="1"/>
          </p:cNvPicPr>
          <p:nvPr/>
        </p:nvPicPr>
        <p:blipFill>
          <a:blip r:embed="rId4"/>
          <a:stretch>
            <a:fillRect/>
          </a:stretch>
        </p:blipFill>
        <p:spPr>
          <a:xfrm>
            <a:off x="6150712" y="3483864"/>
            <a:ext cx="5812384" cy="314553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Screenshot of the OpenSCAD Wallpaper Pattern Editor">    </p:cNvPr>
          <p:cNvPicPr>
            <a:picLocks noChangeAspect="1"/>
          </p:cNvPicPr>
          <p:nvPr/>
        </p:nvPicPr>
        <p:blipFill>
          <a:blip r:embed="rId1"/>
          <a:stretch>
            <a:fillRect/>
          </a:stretch>
        </p:blipFill>
        <p:spPr>
          <a:xfrm>
            <a:off x="975208" y="228600"/>
            <a:ext cx="10241280" cy="64008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lose-up of WS2812B LED strip">    </p:cNvPr>
          <p:cNvPicPr>
            <a:picLocks noChangeAspect="1"/>
          </p:cNvPicPr>
          <p:nvPr/>
        </p:nvPicPr>
        <p:blipFill>
          <a:blip r:embed="rId1"/>
          <a:stretch>
            <a:fillRect/>
          </a:stretch>
        </p:blipFill>
        <p:spPr>
          <a:xfrm>
            <a:off x="6150712" y="228600"/>
            <a:ext cx="5812384" cy="6400800"/>
          </a:xfrm>
          <a:prstGeom prst="rect">
            <a:avLst/>
          </a:prstGeom>
        </p:spPr>
      </p:pic>
      <p:pic>
        <p:nvPicPr>
          <p:cNvPr id="3" name="Image 1" descr="WS2812B pixels chained on a cardboard template">    </p:cNvPr>
          <p:cNvPicPr>
            <a:picLocks noChangeAspect="1"/>
          </p:cNvPicPr>
          <p:nvPr/>
        </p:nvPicPr>
        <p:blipFill>
          <a:blip r:embed="rId2"/>
          <a:stretch>
            <a:fillRect/>
          </a:stretch>
        </p:blipFill>
        <p:spPr>
          <a:xfrm>
            <a:off x="228600" y="228600"/>
            <a:ext cx="5812384" cy="64008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Bundle of green zip ties">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Whiteboard mapping the star's 12 points for light-show programming">    </p:cNvPr>
          <p:cNvPicPr>
            <a:picLocks noChangeAspect="1"/>
          </p:cNvPicPr>
          <p:nvPr/>
        </p:nvPicPr>
        <p:blipFill>
          <a:blip r:embed="rId1"/>
          <a:stretch>
            <a:fillRect/>
          </a:stretch>
        </p:blipFill>
        <p:spPr>
          <a:xfrm>
            <a:off x="228600" y="228600"/>
            <a:ext cx="5812384" cy="6400800"/>
          </a:xfrm>
          <a:prstGeom prst="rect">
            <a:avLst/>
          </a:prstGeom>
        </p:spPr>
      </p:pic>
      <p:sp>
        <p:nvSpPr>
          <p:cNvPr id="3" name="Text 0"/>
          <p:cNvSpPr/>
          <p:nvPr>
            <p:ph idx="100" hasCustomPrompt="1"/>
          </p:nvPr>
        </p:nvSpPr>
        <p:spPr>
          <a:xfrm>
            <a:off x="6150712" y="228600"/>
            <a:ext cx="5812384" cy="6400800"/>
          </a:xfrm>
          <a:prstGeom prst="rect">
            <a:avLst/>
          </a:prstGeom>
          <a:noFill/>
          <a:ln/>
        </p:spPr>
        <p:txBody>
          <a:bodyPr wrap="square" rtlCol="0" anchor="ctr"/>
          <a:lstStyle/>
          <a:p>
            <a:pPr algn="ctr" indent="0" marL="0">
              <a:buNone/>
            </a:pP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Neighbor map: Schlegel diagram of the 12 star points, coloured by hops from point 0">    </p:cNvPr>
          <p:cNvPicPr>
            <a:picLocks noChangeAspect="1"/>
          </p:cNvPicPr>
          <p:nvPr/>
        </p:nvPicPr>
        <p:blipFill>
          <a:blip r:embed="rId1"/>
          <a:stretch>
            <a:fillRect/>
          </a:stretch>
        </p:blipFill>
        <p:spPr>
          <a:xfrm>
            <a:off x="244108" y="228600"/>
            <a:ext cx="5781368" cy="6400800"/>
          </a:xfrm>
          <a:prstGeom prst="rect">
            <a:avLst/>
          </a:prstGeom>
        </p:spPr>
      </p:pic>
      <p:pic>
        <p:nvPicPr>
          <p:cNvPr id="3" name="Image 1" descr="Node map: graph of the 12 star points and their 30 neighbour links, coloured by hops from point 0">    </p:cNvPr>
          <p:cNvPicPr>
            <a:picLocks noChangeAspect="1"/>
          </p:cNvPicPr>
          <p:nvPr/>
        </p:nvPicPr>
        <p:blipFill>
          <a:blip r:embed="rId2"/>
          <a:stretch>
            <a:fillRect/>
          </a:stretch>
        </p:blipFill>
        <p:spPr>
          <a:xfrm>
            <a:off x="6166220" y="228600"/>
            <a:ext cx="5781368" cy="64008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548640" y="2011680"/>
            <a:ext cx="6035040" cy="137160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Thank you</a:t>
            </a:r>
            <a:endParaRPr lang="en-US" sz="5400" dirty="0"/>
          </a:p>
        </p:txBody>
      </p:sp>
      <p:sp>
        <p:nvSpPr>
          <p:cNvPr id="3" name="Text 0"/>
          <p:cNvSpPr/>
          <p:nvPr>
            <p:ph idx="102" type="body" hasCustomPrompt="1"/>
          </p:nvPr>
        </p:nvSpPr>
        <p:spPr>
          <a:xfrm>
            <a:off x="548640" y="3520440"/>
            <a:ext cx="5852160" cy="1463040"/>
          </a:xfrm>
          <a:prstGeom prst="rect">
            <a:avLst/>
          </a:prstGeom>
          <a:noFill/>
          <a:ln/>
        </p:spPr>
        <p:txBody>
          <a:bodyPr wrap="square" lIns="0" tIns="0" rIns="0" bIns="0" rtlCol="0" anchor="t"/>
          <a:lstStyle/>
          <a:p>
            <a:pPr indent="0" marL="0">
              <a:buNone/>
            </a:pPr>
            <a:r>
              <a:rPr lang="en-US" sz="2000" b="1" dirty="0">
                <a:solidFill>
                  <a:schemeClr val="bg1"/>
                </a:solidFill>
              </a:rPr>
              <a:t>Questions?</a:t>
            </a:r>
            <a:endParaRPr lang="en-US" sz="2000" dirty="0"/>
          </a:p>
          <a:p>
            <a:pPr indent="0" marL="0">
              <a:buNone/>
            </a:pPr>
            <a:r>
              <a:rPr lang="en-US" sz="1500" dirty="0">
                <a:solidFill>
                  <a:schemeClr val="accent6"/>
                </a:solidFill>
              </a:rPr>
              <a:t>github.com/Kuri148/Wanderers-Star-Laser-Cutting-Summer</a:t>
            </a:r>
            <a:endParaRPr lang="en-US" sz="2000" dirty="0"/>
          </a:p>
        </p:txBody>
      </p:sp>
      <p:pic>
        <p:nvPicPr>
          <p:cNvPr id="4" name="Image 0" descr="Rendering of the small stellated dodecahedron">    </p:cNvPr>
          <p:cNvPicPr>
            <a:picLocks noChangeAspect="1"/>
          </p:cNvPicPr>
          <p:nvPr/>
        </p:nvPicPr>
        <p:blipFill>
          <a:blip r:embed="rId1"/>
          <a:stretch>
            <a:fillRect/>
          </a:stretch>
        </p:blipFill>
        <p:spPr>
          <a:xfrm>
            <a:off x="6400800" y="502920"/>
            <a:ext cx="5852160" cy="5852160"/>
          </a:xfrm>
          <a:prstGeom prst="rect">
            <a:avLst/>
          </a:prstGeom>
        </p:spPr>
      </p:pic>
    </p:spTree>
  </p:cSld>
  <p:clrMapOvr>
    <a:masterClrMapping/>
  </p:clrMapOvr>
</p:sld>
</file>

<file path=ppt/theme/theme1.xml><?xml version="1.0" encoding="utf-8"?>
<a:theme xmlns:a="http://schemas.openxmlformats.org/drawingml/2006/main" name="Wanderers Star Dark">
  <a:themeElements>
    <a:clrScheme name="Wanderers Star Dark">
      <a:dk1>
        <a:srgbClr val="14182B"/>
      </a:dk1>
      <a:lt1>
        <a:srgbClr val="FFFFFF"/>
      </a:lt1>
      <a:dk2>
        <a:srgbClr val="232A45"/>
      </a:dk2>
      <a:lt2>
        <a:srgbClr val="C9CEDB"/>
      </a:lt2>
      <a:accent1>
        <a:srgbClr val="F2A93B"/>
      </a:accent1>
      <a:accent2>
        <a:srgbClr val="1FB89A"/>
      </a:accent2>
      <a:accent3>
        <a:srgbClr val="D65C24"/>
      </a:accent3>
      <a:accent4>
        <a:srgbClr val="8C97B8"/>
      </a:accent4>
      <a:accent5>
        <a:srgbClr val="8A6D3B"/>
      </a:accent5>
      <a:accent6>
        <a:srgbClr val="C9CEDB"/>
      </a:accent6>
      <a:hlink>
        <a:srgbClr val="1FB89A"/>
      </a:hlink>
      <a:folHlink>
        <a:srgbClr val="8C97B8"/>
      </a:folHlink>
    </a:clrScheme>
    <a:fontScheme name="Wanderers Star Dar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Wanderers Star</dc:title>
  <dc:subject>PptxGenJS Presentation</dc:subject>
  <dc:creator>Kuri148</dc:creator>
  <cp:lastModifiedBy>Kuri148</cp:lastModifiedBy>
  <cp:revision>1</cp:revision>
  <dcterms:created xsi:type="dcterms:W3CDTF">2026-10-30T18:33:52Z</dcterms:created>
  <dcterms:modified xsi:type="dcterms:W3CDTF">2026-10-30T18:33:52Z</dcterms:modified>
</cp:coreProperties>
</file>