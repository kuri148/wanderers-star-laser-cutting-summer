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media/media5.mp4" ContentType="video/mp4"/>
  <Override PartName="/ppt/notesMasters/notesMaster1.xml" ContentType="application/vnd.openxmlformats-officedocument.presentationml.notesMaster+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 id="2147483655" r:id="rId5"/>
    <p:sldMasterId id="2147483657" r:id="rId6"/>
    <p:sldMasterId id="2147483658" r:id="rId7"/>
    <p:sldMasterId id="2147483659" r:id="rId8"/>
    <p:sldMasterId id="2147483660"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Lst>
  <p:sldSz cx="12192000" cy="6858000"/>
  <p:notesSz cx="7559675" cy="10691813"/>
  <p:extLst>
    <p:ext uri="{521415D9-36F7-43E2-AB2F-B90AF26B5E84}">
      <p14:sectionLst xmlns:p14="http://schemas.microsoft.com/office/powerpoint/2010/main">
        <p14:section name="Intro" id="{7f29d653-4e98-f1d6-9665-8d41bf492863}">
          <p14:sldIdLst>
            <p14:sldId id="256"/>
          </p14:sldIdLst>
        </p14:section>
        <p14:section name="What did I make?" id="{23a5aaa6-2ba0-4b70-ebe5-d01e32fa772e}">
          <p14:sldIdLst>
            <p14:sldId id="257"/>
            <p14:sldId id="258"/>
          </p14:sldIdLst>
        </p14:section>
        <p14:section name="Why did I make it?" id="{4f432885-2dc6-0c9a-3a81-91350343c2c4}">
          <p14:sldIdLst>
            <p14:sldId id="259"/>
            <p14:sldId id="260"/>
            <p14:sldId id="261"/>
          </p14:sldIdLst>
        </p14:section>
        <p14:section name="How did I make it?" id="{cf7fb49a-75aa-385d-ad5f-ce8d158279e7}">
          <p14:sldIdLst>
            <p14:sldId id="262"/>
            <p14:sldId id="263"/>
            <p14:sldId id="264"/>
            <p14:sldId id="265"/>
            <p14:sldId id="266"/>
            <p14:sldId id="267"/>
            <p14:sldId id="268"/>
            <p14:sldId id="269"/>
            <p14:sldId id="270"/>
          </p14:sldIdLst>
        </p14:section>
        <p14:section name="What is next?" id="{02b90a1b-1f2d-83e4-973c-f0905e42a100}">
          <p14:sldIdLst>
            <p14:sldId id="271"/>
            <p14:sldId id="272"/>
            <p14:sldId id="273"/>
          </p14:sldIdLst>
        </p14:section>
        <p14:section name="Close" id="{1e251719-dae2-1af1-d3df-321d593b438a}">
          <p14:sldIdLst>
            <p14:sldId id="274"/>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sldImg"/>
          </p:nvPr>
        </p:nvSpPr>
        <p:spPr>
          <a:xfrm>
            <a:off x="0" y="812520"/>
            <a:ext cx="360" cy="360"/>
          </a:xfrm>
          <a:prstGeom prst="rect">
            <a:avLst/>
          </a:prstGeom>
          <a:noFill/>
          <a:ln w="0">
            <a:noFill/>
          </a:ln>
        </p:spPr>
        <p:txBody>
          <a:bodyPr lIns="0" tIns="0" rIns="0" bIns="0" anchor="ctr">
            <a:noAutofit/>
          </a:bodyPr>
          <a:p>
            <a:r>
              <a:rPr lang="en-US" sz="5400" b="1" u="none" strike="noStrike">
                <a:solidFill>
                  <a:schemeClr val="lt1"/>
                </a:solidFill>
                <a:effectLst/>
                <a:uFillTx/>
                <a:latin typeface="Cambria"/>
              </a:rPr>
              <a:t>Click to move the slide</a:t>
            </a:r>
            <a:endParaRPr lang="en-US" sz="5400" b="1" u="none" strike="noStrike">
              <a:solidFill>
                <a:schemeClr val="lt1"/>
              </a:solidFill>
              <a:effectLst/>
              <a:uFillTx/>
              <a:latin typeface="Cambria"/>
            </a:endParaRPr>
          </a:p>
        </p:txBody>
      </p:sp>
      <p:sp>
        <p:nvSpPr>
          <p:cNvPr id="2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24"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5"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3548509-AB85-422B-9C4E-BE73870F978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685800" y="1143000"/>
            <a:ext cx="5486040" cy="3085920"/>
          </a:xfrm>
          <a:prstGeom prst="rect">
            <a:avLst/>
          </a:prstGeom>
          <a:ln w="0">
            <a:noFill/>
          </a:ln>
        </p:spPr>
      </p:sp>
      <p:sp>
        <p:nvSpPr>
          <p:cNvPr id="1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~30 s. Introduce yourself and the project. 'Wanderers' nods to the planets (Greek planētēs = wanderers) and to Kepler, who first described this star polyhedron in 1619.</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Roadmap: what I made, why, how, and what's next.</a:t>
            </a:r>
            <a:endParaRPr lang="en-US" sz="2000" b="0" u="none" strike="noStrike">
              <a:solidFill>
                <a:srgbClr val="000000"/>
              </a:solidFill>
              <a:effectLst/>
              <a:uFillTx/>
              <a:latin typeface="Arial"/>
            </a:endParaRPr>
          </a:p>
        </p:txBody>
      </p:sp>
      <p:sp>
        <p:nvSpPr>
          <p:cNvPr id="117"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9DA3BC-3707-424F-9D4B-B78E484725A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685800" y="1143000"/>
            <a:ext cx="5486040" cy="3085920"/>
          </a:xfrm>
          <a:prstGeom prst="rect">
            <a:avLst/>
          </a:prstGeom>
          <a:ln w="0">
            <a:noFill/>
          </a:ln>
        </p:spPr>
      </p:sp>
      <p:sp>
        <p:nvSpPr>
          <p:cNvPr id="1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 min. PLUG IN THE STAR before this slide.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Geometry: a dodecahedron (pentagon edge 150 mm) with a five-sided pyramid on each of its 12 faces. Every pyramid face is a golden triangle, so 12 × 5 = 60 panels. Teal = one panel. It's Kepler's star polyhedron (1619); as a Kepler–Poinsot solid it counts as 12 pentagram faces, 12 vertices, 30 edges.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Tip-to-tip ≈ 747 mm, computed from the 150 mm edge; measure the real one to confirm.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Lights: 12 groups × 3 LEDs = 36 WS2812B pixels on an ESP32.</a:t>
            </a:r>
            <a:endParaRPr lang="en-US" sz="2000" b="0" u="none" strike="noStrike">
              <a:solidFill>
                <a:srgbClr val="000000"/>
              </a:solidFill>
              <a:effectLst/>
              <a:uFillTx/>
              <a:latin typeface="Arial"/>
            </a:endParaRPr>
          </a:p>
        </p:txBody>
      </p:sp>
      <p:sp>
        <p:nvSpPr>
          <p:cNvPr id="12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59EE7A-EB6C-4B28-8199-04B7AF87FA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685800" y="1143000"/>
            <a:ext cx="5486040" cy="3085920"/>
          </a:xfrm>
          <a:prstGeom prst="rect">
            <a:avLst/>
          </a:prstGeom>
          <a:ln w="0">
            <a:noFill/>
          </a:ln>
        </p:spPr>
      </p:sp>
      <p:sp>
        <p:nvSpPr>
          <p:cNvPr id="1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 min. A golden triangle is the isosceles triangle with a 36° apex and two 72° base angles. Leg ÷ base is exactly the golden ratio φ ≈ 1.618. With a 150 mm base, the legs are 242.7 mm and the height is 230.8 mm.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It's the triangle in a pentagram, which is why it builds a pentagonal star. Five 36° tips meet at every point: 5 × 36° = 180°, which is why the points are so sharp.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Cut off a base angle with its bisector and you get a smaller golden triangle plus a 36-36-108 'golden gnomon'. It repeats forever.</a:t>
            </a:r>
            <a:endParaRPr lang="en-US" sz="2000" b="0" u="none" strike="noStrike">
              <a:solidFill>
                <a:srgbClr val="000000"/>
              </a:solidFill>
              <a:effectLst/>
              <a:uFillTx/>
              <a:latin typeface="Arial"/>
            </a:endParaRPr>
          </a:p>
        </p:txBody>
      </p:sp>
      <p:sp>
        <p:nvSpPr>
          <p:cNvPr id="12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7D6F79-AC43-4B8B-9499-D22C555A561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6040" cy="3085920"/>
          </a:xfrm>
          <a:prstGeom prst="rect">
            <a:avLst/>
          </a:prstGeom>
          <a:ln w="0">
            <a:noFill/>
          </a:ln>
        </p:spPr>
      </p:sp>
      <p:sp>
        <p:nvSpPr>
          <p:cNvPr id="1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 min 10 s. VIDEO: click to play (or set Playback &gt; Start: Automatically). Each of the 60 patterns fills the screen for 2 s, then the full 60-pattern grid holds for 10 s. 60 panels, 60 patterns. Point out favourites: MapleQuilt is a nod to the quilts; SixtySeven is for Sector67.</a:t>
            </a:r>
            <a:endParaRPr lang="en-US" sz="2000" b="0" u="none" strike="noStrike">
              <a:solidFill>
                <a:srgbClr val="000000"/>
              </a:solidFill>
              <a:effectLst/>
              <a:uFillTx/>
              <a:latin typeface="Arial"/>
            </a:endParaRPr>
          </a:p>
        </p:txBody>
      </p:sp>
      <p:sp>
        <p:nvSpPr>
          <p:cNvPr id="12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EB46B9-911B-4B0B-A319-4693C39CBED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6040" cy="308592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min. My mother's quilts. Repeating blocks, rotated, mirrored and repeated: the same symmetry that drives every panel on the star. Point out the kaleidoscope stars (left) and the double wedding ring (right).</a:t>
            </a:r>
            <a:endParaRPr lang="en-US" sz="2000" b="0" u="none" strike="noStrike">
              <a:solidFill>
                <a:srgbClr val="000000"/>
              </a:solidFill>
              <a:effectLst/>
              <a:uFillTx/>
              <a:latin typeface="Arial"/>
            </a:endParaRPr>
          </a:p>
        </p:txBody>
      </p:sp>
      <p:sp>
        <p:nvSpPr>
          <p:cNvPr id="129"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171FA8-9008-4A6A-AB5E-D0C9B4BEC61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6040" cy="3085920"/>
          </a:xfrm>
          <a:prstGeom prst="rect">
            <a:avLst/>
          </a:prstGeom>
          <a:ln w="0">
            <a:noFill/>
          </a:ln>
        </p:spPr>
      </p:sp>
      <p:sp>
        <p:nvSpPr>
          <p:cNvPr id="1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~45 s. The lamps of Sector67: lamps other members built here inspired this one. Credit the makers if you know them.</a:t>
            </a:r>
            <a:endParaRPr lang="en-US" sz="2000" b="0" u="none" strike="noStrike">
              <a:solidFill>
                <a:srgbClr val="000000"/>
              </a:solidFill>
              <a:effectLst/>
              <a:uFillTx/>
              <a:latin typeface="Arial"/>
            </a:endParaRPr>
          </a:p>
        </p:txBody>
      </p:sp>
      <p:sp>
        <p:nvSpPr>
          <p:cNvPr id="132"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D70C41-2A41-46F7-BC7C-69F1B5D3A0E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6040" cy="3085920"/>
          </a:xfrm>
          <a:prstGeom prst="rect">
            <a:avLst/>
          </a:prstGeom>
          <a:ln w="0">
            <a:noFill/>
          </a:ln>
        </p:spPr>
      </p:sp>
      <p:sp>
        <p:nvSpPr>
          <p:cNvPr id="1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 min. The 17 wallpaper groups. Every repeating pattern on a flat surface uses exactly one of them; the pattern editor has a template for each.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Order (left to right, top to bottom): p1, p2, pm, pg, cm, pmm / pmg, pgg, cmm, p4, p4m, p4g / p3, p3m1, p31m, p6, p6m.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letter-F trick: an F has no symmetry of its own, so every copy is created by the group. Orange Fs are mirror images, so groups with no orange (p1, p2, p3, p4, p6) have only rotations and translations.</a:t>
            </a:r>
            <a:endParaRPr lang="en-US" sz="2000" b="0" u="none" strike="noStrike">
              <a:solidFill>
                <a:srgbClr val="000000"/>
              </a:solidFill>
              <a:effectLst/>
              <a:uFillTx/>
              <a:latin typeface="Arial"/>
            </a:endParaRPr>
          </a:p>
        </p:txBody>
      </p:sp>
      <p:sp>
        <p:nvSpPr>
          <p:cNvPr id="135"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0D2D97-983C-45DD-94E6-6E96F10C01E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6040" cy="3085920"/>
          </a:xfrm>
          <a:prstGeom prst="rect">
            <a:avLst/>
          </a:prstGeom>
          <a:ln w="0">
            <a:noFill/>
          </a:ln>
        </p:spPr>
      </p:sp>
      <p:sp>
        <p:nvSpPr>
          <p:cNvPr id="1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~45 s. Three books: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Tilings &amp; Patterns, Branko Grünbaum &amp; G. C. Shephard: the encyclopedic reference.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The Symmetries of Things, John H. Conway, Heidi Burgiel &amp; Chaim Goodman-Strauss: orbifold notation (the *442-style names).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Symmetry: A Mathematical Exploration, Kristopher Tapp: the friendliest intro to the group theory.</a:t>
            </a:r>
            <a:endParaRPr lang="en-US" sz="2000" b="0" u="none" strike="noStrike">
              <a:solidFill>
                <a:srgbClr val="000000"/>
              </a:solidFill>
              <a:effectLst/>
              <a:uFillTx/>
              <a:latin typeface="Arial"/>
            </a:endParaRPr>
          </a:p>
        </p:txBody>
      </p:sp>
      <p:sp>
        <p:nvSpPr>
          <p:cNvPr id="138"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1435CD-ECC4-48A1-BA25-94A43E4EF03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6040" cy="3085920"/>
          </a:xfrm>
          <a:prstGeom prst="rect">
            <a:avLst/>
          </a:prstGeom>
          <a:ln w="0">
            <a:noFill/>
          </a:ln>
        </p:spPr>
      </p:sp>
      <p:sp>
        <p:nvSpPr>
          <p:cNvPr id="1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~45 s. What I took from them: star-polygon tilings (Tilings &amp; Patterns), brick bonds classified as orbifolds 2*22 and 22* (Symmetries of Things), dodecahedron/icosahedron duality (Symmetry).</a:t>
            </a:r>
            <a:endParaRPr lang="en-US" sz="2000" b="0" u="none" strike="noStrike">
              <a:solidFill>
                <a:srgbClr val="000000"/>
              </a:solidFill>
              <a:effectLst/>
              <a:uFillTx/>
              <a:latin typeface="Arial"/>
            </a:endParaRPr>
          </a:p>
        </p:txBody>
      </p:sp>
      <p:sp>
        <p:nvSpPr>
          <p:cNvPr id="141"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023909-C886-4F5B-AB7B-7975D3A398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685800" y="1143000"/>
            <a:ext cx="5486040" cy="3085920"/>
          </a:xfrm>
          <a:prstGeom prst="rect">
            <a:avLst/>
          </a:prstGeom>
          <a:ln w="0">
            <a:noFill/>
          </a:ln>
        </p:spPr>
      </p:sp>
      <p:sp>
        <p:nvSpPr>
          <p:cNvPr id="1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min. Materials: laser-cut plywood panels (60) and pentagon bases (12), zip ties (current joinery), WS2812B addressable LED strip, 3-pin 20 AWG extension wire, ESP32 dev board.</a:t>
            </a:r>
            <a:endParaRPr lang="en-US" sz="2000" b="0" u="none" strike="noStrike">
              <a:solidFill>
                <a:srgbClr val="000000"/>
              </a:solidFill>
              <a:effectLst/>
              <a:uFillTx/>
              <a:latin typeface="Arial"/>
            </a:endParaRPr>
          </a:p>
        </p:txBody>
      </p:sp>
      <p:sp>
        <p:nvSpPr>
          <p:cNvPr id="144"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6A9DFD-299B-4EE1-B394-68167F9234C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685800" y="1143000"/>
            <a:ext cx="5486040" cy="308592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min. Tools: the Sector67 laser cutter. Software: OpenSCAD (every panel is a script), my pattern editor, Python scripts that nest panels onto sheets and export LightBurn files, LightBurn to drive the laser, Arduino IDE for the ESP32.</a:t>
            </a:r>
            <a:endParaRPr lang="en-US" sz="2000" b="0" u="none" strike="noStrike">
              <a:solidFill>
                <a:srgbClr val="000000"/>
              </a:solidFill>
              <a:effectLst/>
              <a:uFillTx/>
              <a:latin typeface="Arial"/>
            </a:endParaRPr>
          </a:p>
        </p:txBody>
      </p:sp>
      <p:sp>
        <p:nvSpPr>
          <p:cNvPr id="147"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218CAF-3CC9-40FB-BAF3-379E3FCEFD4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min. It starts in the notebook: pick a wallpaper group, sketch the fundamental domain, hand-write the OpenSCAD modules (FundamentalDomain, FundamentalCut, CompletedTile, PatternArray), then tile, clip to the golden triangle, and cut.</a:t>
            </a:r>
            <a:endParaRPr lang="en-US" sz="2000" b="0" u="none" strike="noStrike">
              <a:solidFill>
                <a:srgbClr val="000000"/>
              </a:solidFill>
              <a:effectLst/>
              <a:uFillTx/>
              <a:latin typeface="Arial"/>
            </a:endParaRPr>
          </a:p>
        </p:txBody>
      </p:sp>
      <p:sp>
        <p:nvSpPr>
          <p:cNvPr id="150"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4411DF-7AC9-4648-B1B4-B2E7C25FE17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min. It starts in the notebook: pick a wallpaper group, sketch the fundamental domain, hand-write the OpenSCAD modules (FundamentalDomain, FundamentalCut, CompletedTile, PatternArray), then tile, clip to the golden triangle, and cut.</a:t>
            </a:r>
            <a:endParaRPr lang="en-US" sz="2000" b="0" u="none" strike="noStrike">
              <a:solidFill>
                <a:srgbClr val="000000"/>
              </a:solidFill>
              <a:effectLst/>
              <a:uFillTx/>
              <a:latin typeface="Arial"/>
            </a:endParaRPr>
          </a:p>
        </p:txBody>
      </p:sp>
      <p:sp>
        <p:nvSpPr>
          <p:cNvPr id="153"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BC3763-13A3-4520-BF9B-EEAC7121E58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Then I built a tool for it: choose any of the 17 groups, draw polygons, Bézier curves and circles in the fundamental domain, see the tiling update live, export a framed ready-to-cut .scad panel.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kuri148.github.io/Wanderers-Star-Laser-Cutting-Summer</a:t>
            </a:r>
            <a:endParaRPr lang="en-US" sz="2000" b="0" u="none" strike="noStrike">
              <a:solidFill>
                <a:srgbClr val="000000"/>
              </a:solidFill>
              <a:effectLst/>
              <a:uFillTx/>
              <a:latin typeface="Arial"/>
            </a:endParaRPr>
          </a:p>
        </p:txBody>
      </p:sp>
      <p:sp>
        <p:nvSpPr>
          <p:cNvPr id="156"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49E04A-4670-450A-8983-6A819158D7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~45 s. Wiring: the strip is cut into single pixels and chained with 3-pin wire (+5V, data, ground). Laid out and tested on a cardboard template first. 36 pixels, 3 per point, all on one ESP32 data pin.</a:t>
            </a:r>
            <a:endParaRPr lang="en-US" sz="2000" b="0" u="none" strike="noStrike">
              <a:solidFill>
                <a:srgbClr val="000000"/>
              </a:solidFill>
              <a:effectLst/>
              <a:uFillTx/>
              <a:latin typeface="Arial"/>
            </a:endParaRPr>
          </a:p>
        </p:txBody>
      </p:sp>
      <p:sp>
        <p:nvSpPr>
          <p:cNvPr id="159"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77632E-91E0-4D82-B053-79994DD35FE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Next for the star: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Beyond zip ties: designed connectors so panels join cleanly and the star comes apart for transport.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Diffusers: soften the LED hot spots so each panel glows evenly.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Metal: a finished version cut in metal.</a:t>
            </a:r>
            <a:endParaRPr lang="en-US" sz="2000" b="0" u="none" strike="noStrike">
              <a:solidFill>
                <a:srgbClr val="000000"/>
              </a:solidFill>
              <a:effectLst/>
              <a:uFillTx/>
              <a:latin typeface="Arial"/>
            </a:endParaRPr>
          </a:p>
        </p:txBody>
      </p:sp>
      <p:sp>
        <p:nvSpPr>
          <p:cNvPr id="162"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4ADA82-834E-4215-8099-3574C6557BC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 min. Next for me: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More light shows: the whiteboard maps the 12 points, neighbours, and opposite pairs (0-11, 1-9, 2-10, 3-6, 4-7, 5-8).</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3D packings &amp; tilings: the plane has 17 wallpaper groups, space has 230 crystallographic groups.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WebXR geometry: my new project, walking around these shapes in VR.</a:t>
            </a:r>
            <a:endParaRPr lang="en-US" sz="2000" b="0" u="none" strike="noStrike">
              <a:solidFill>
                <a:srgbClr val="000000"/>
              </a:solidFill>
              <a:effectLst/>
              <a:uFillTx/>
              <a:latin typeface="Arial"/>
            </a:endParaRPr>
          </a:p>
        </p:txBody>
      </p:sp>
      <p:sp>
        <p:nvSpPr>
          <p:cNvPr id="165"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EF820D-39EC-40B3-8D52-53D5467A564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 min. The whiteboard, cleaned up. Left: every star point is a face of a dodecahedron, flattened so 0 is in the middle and 11 is the outside. Right: the same thing as a graph, 12 nodes and 30 links, which is the icosahedron. These are the exact links in the light-show code (edgeList).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Colours are hops from point 0. Every point is at most 3 hops from any other, and its 3-hop partner is the point straight through the star: 0-11, 1-9, 2-10, 3-6, 4-7, 5-8 (poleList).</a:t>
            </a:r>
            <a:endParaRPr lang="en-US" sz="2000" b="0" u="none" strike="noStrike">
              <a:solidFill>
                <a:srgbClr val="000000"/>
              </a:solidFill>
              <a:effectLst/>
              <a:uFillTx/>
              <a:latin typeface="Arial"/>
            </a:endParaRPr>
          </a:p>
        </p:txBody>
      </p:sp>
      <p:sp>
        <p:nvSpPr>
          <p:cNvPr id="168"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BE5AFD-369F-4A8D-9D48-83C6361A8C9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Take questions. Offer to turn the light show back on.</a:t>
            </a:r>
            <a:endParaRPr lang="en-US" sz="2000" b="0" u="none" strike="noStrike">
              <a:solidFill>
                <a:srgbClr val="000000"/>
              </a:solidFill>
              <a:effectLst/>
              <a:uFillTx/>
              <a:latin typeface="Arial"/>
            </a:endParaRPr>
          </a:p>
        </p:txBody>
      </p:sp>
      <p:sp>
        <p:nvSpPr>
          <p:cNvPr id="171"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0F8300-25DD-4273-86E9-1F841880FA0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 name="PlaceHolder 1"/>
          <p:cNvSpPr>
            <a:spLocks noGrp="1"/>
          </p:cNvSpPr>
          <p:nvPr>
            <p:ph type="title"/>
          </p:nvPr>
        </p:nvSpPr>
        <p:spPr>
          <a:xfrm>
            <a:off x="548640" y="2011680"/>
            <a:ext cx="6034680" cy="1371240"/>
          </a:xfrm>
          <a:prstGeom prst="rect">
            <a:avLst/>
          </a:prstGeom>
          <a:noFill/>
          <a:ln w="0">
            <a:noFill/>
          </a:ln>
        </p:spPr>
        <p:txBody>
          <a:bodyPr lIns="0" tIns="0" rIns="0" bIns="0" anchor="ctr">
            <a:spAutoFit/>
          </a:bodyPr>
          <a:p>
            <a:pPr indent="0" algn="l" defTabSz="914400">
              <a:buNone/>
              <a:tabLst>
                <a:tab pos="0" algn="l"/>
              </a:tabLst>
            </a:pPr>
            <a:endParaRPr lang="en-US" sz="5400" b="1" u="none" strike="noStrike">
              <a:solidFill>
                <a:schemeClr val="lt1"/>
              </a:solidFill>
              <a:effectLst/>
              <a:uFillTx/>
              <a:latin typeface="Cambria"/>
            </a:endParaRPr>
          </a:p>
        </p:txBody>
      </p:sp>
      <p:sp>
        <p:nvSpPr>
          <p:cNvPr id="3" name="PlaceHolder 2"/>
          <p:cNvSpPr>
            <a:spLocks noGrp="1"/>
          </p:cNvSpPr>
          <p:nvPr>
            <p:ph type="subTitle"/>
          </p:nvPr>
        </p:nvSpPr>
        <p:spPr>
          <a:xfrm>
            <a:off x="548640" y="3520440"/>
            <a:ext cx="5851800" cy="14626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548640" y="2011680"/>
            <a:ext cx="6034680" cy="1371240"/>
          </a:xfrm>
          <a:prstGeom prst="rect">
            <a:avLst/>
          </a:prstGeom>
          <a:noFill/>
          <a:ln w="0">
            <a:noFill/>
          </a:ln>
        </p:spPr>
        <p:txBody>
          <a:bodyPr lIns="0" tIns="0" rIns="0" bIns="0" anchor="ctr">
            <a:spAutoFit/>
          </a:bodyPr>
          <a:p>
            <a:pPr indent="0" algn="l" defTabSz="914400">
              <a:buNone/>
              <a:tabLst>
                <a:tab pos="0" algn="l"/>
              </a:tabLst>
            </a:pPr>
            <a:endParaRPr lang="en-US" sz="5400" b="1" u="none" strike="noStrike">
              <a:solidFill>
                <a:schemeClr val="lt1"/>
              </a:solidFill>
              <a:effectLst/>
              <a:uFillTx/>
              <a:latin typeface="Cambria"/>
            </a:endParaRPr>
          </a:p>
        </p:txBody>
      </p:sp>
      <p:sp>
        <p:nvSpPr>
          <p:cNvPr id="8" name="PlaceHolder 2"/>
          <p:cNvSpPr>
            <a:spLocks noGrp="1"/>
          </p:cNvSpPr>
          <p:nvPr>
            <p:ph type="subTitle"/>
          </p:nvPr>
        </p:nvSpPr>
        <p:spPr>
          <a:xfrm>
            <a:off x="548640" y="3520440"/>
            <a:ext cx="5851800" cy="1462680"/>
          </a:xfrm>
          <a:prstGeom prst="rect">
            <a:avLst/>
          </a:prstGeom>
          <a:noFill/>
          <a:ln w="0">
            <a:noFill/>
          </a:ln>
        </p:spPr>
        <p:txBody>
          <a:bodyPr lIns="0" tIns="0" rIns="0" bIns="0" anchor="ctr">
            <a:spAutoFit/>
          </a:bodyPr>
          <a:p>
            <a:pPr indent="0" algn="ctr">
              <a:buNone/>
            </a:pPr>
            <a:endParaRPr lang="en-US" sz="32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_2_NEX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pic>
        <p:nvPicPr>
          <p:cNvPr id="4" name="Image 0" descr="preencoded.png"/>
          <p:cNvPicPr/>
          <p:nvPr/>
        </p:nvPicPr>
        <p:blipFill>
          <a:blip r:embed="rId2"/>
          <a:stretch/>
        </p:blipFill>
        <p:spPr>
          <a:xfrm>
            <a:off x="548640" y="1325880"/>
            <a:ext cx="328680" cy="506160"/>
          </a:xfrm>
          <a:prstGeom prst="rect">
            <a:avLst/>
          </a:prstGeom>
          <a:noFill/>
          <a:ln w="0">
            <a:noFill/>
          </a:ln>
        </p:spPr>
      </p:pic>
      <p:sp>
        <p:nvSpPr>
          <p:cNvPr id="5" name="PlaceHolder 1"/>
          <p:cNvSpPr>
            <a:spLocks noGrp="1"/>
          </p:cNvSpPr>
          <p:nvPr>
            <p:ph type="title"/>
          </p:nvPr>
        </p:nvSpPr>
        <p:spPr>
          <a:xfrm>
            <a:off x="548640" y="2011680"/>
            <a:ext cx="6034680" cy="137124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5400" b="1" u="none" strike="noStrike">
                <a:solidFill>
                  <a:schemeClr val="lt1"/>
                </a:solidFill>
                <a:effectLst/>
                <a:uFillTx/>
                <a:latin typeface="Cambria"/>
                <a:ea typeface="Cambria"/>
              </a:defRPr>
            </a:lvl1pPr>
          </a:lstStyle>
          <a:p>
            <a:pPr indent="0" algn="l" defTabSz="914400">
              <a:lnSpc>
                <a:spcPct val="100000"/>
              </a:lnSpc>
              <a:buNone/>
              <a:tabLst>
                <a:tab pos="0" algn="l"/>
              </a:tabLst>
            </a:pPr>
            <a:r>
              <a:rPr lang="en-US" sz="5400" b="1" u="none" strike="noStrike">
                <a:solidFill>
                  <a:schemeClr val="lt1"/>
                </a:solidFill>
                <a:effectLst/>
                <a:uFillTx/>
                <a:latin typeface="Cambria"/>
                <a:ea typeface="Cambria"/>
              </a:rPr>
              <a:t>Title</a:t>
            </a:r>
            <a:endParaRPr lang="en-US" sz="5400" b="1" u="none" strike="noStrike">
              <a:solidFill>
                <a:schemeClr val="lt1"/>
              </a:solidFill>
              <a:effectLst/>
              <a:uFillTx/>
              <a:latin typeface="Cambria"/>
            </a:endParaRPr>
          </a:p>
        </p:txBody>
      </p:sp>
      <p:sp>
        <p:nvSpPr>
          <p:cNvPr id="6" name="PlaceHolder 2"/>
          <p:cNvSpPr>
            <a:spLocks noGrp="1"/>
          </p:cNvSpPr>
          <p:nvPr>
            <p:ph type="body"/>
          </p:nvPr>
        </p:nvSpPr>
        <p:spPr>
          <a:xfrm>
            <a:off x="548640" y="3520440"/>
            <a:ext cx="5851800" cy="1462680"/>
          </a:xfrm>
          <a:prstGeom prst="rect">
            <a:avLst/>
          </a:prstGeom>
          <a:noFill/>
          <a:ln w="0">
            <a:noFill/>
          </a:ln>
        </p:spPr>
        <p:txBody>
          <a:bodyPr lIns="90000" tIns="45000" rIns="90000" bIns="45000" anchor="t">
            <a:noAutofit/>
          </a:bodyPr>
          <a:lstStyle>
            <a:lvl1pPr indent="0" algn="l" defTabSz="914400">
              <a:lnSpc>
                <a:spcPct val="100000"/>
              </a:lnSpc>
              <a:spcBef>
                <a:spcPts val="400"/>
              </a:spcBef>
              <a:tabLst>
                <a:tab pos="0" algn="l"/>
              </a:tabLst>
              <a:defRPr lang="en-US" sz="2000" b="0" u="none" strike="noStrike">
                <a:solidFill>
                  <a:schemeClr val="accent6"/>
                </a:solidFill>
                <a:effectLst/>
                <a:uFillTx/>
                <a:latin typeface="Calibri"/>
              </a:defRPr>
            </a:lvl1pPr>
          </a:lstStyle>
          <a:p>
            <a:pPr indent="0" algn="l" defTabSz="914400">
              <a:lnSpc>
                <a:spcPct val="100000"/>
              </a:lnSpc>
              <a:spcBef>
                <a:spcPts val="400"/>
              </a:spcBef>
              <a:tabLst>
                <a:tab pos="0" algn="l"/>
              </a:tabLst>
            </a:pPr>
            <a:r>
              <a:rPr lang="en-US" sz="2000" b="0" u="none" strike="noStrike">
                <a:solidFill>
                  <a:schemeClr val="accent6"/>
                </a:solidFill>
                <a:effectLst/>
                <a:uFillTx/>
                <a:latin typeface="Calibri"/>
              </a:rPr>
              <a:t>Subtitle</a:t>
            </a:r>
            <a:endParaRPr lang="en-US" sz="2000" b="0" u="none" strike="noStrike">
              <a:solidFill>
                <a:schemeClr val="accent6"/>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1" r:id="rId3"/>
    <p:sldLayoutId id="2147483652"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548640" y="457200"/>
            <a:ext cx="11094120" cy="7768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600" b="1" u="none" strike="noStrike">
                <a:solidFill>
                  <a:schemeClr val="lt1"/>
                </a:solidFill>
                <a:effectLst/>
                <a:uFillTx/>
                <a:latin typeface="Cambria"/>
                <a:ea typeface="Cambria"/>
              </a:defRPr>
            </a:lvl1pPr>
          </a:lstStyle>
          <a:p>
            <a:pPr indent="0" algn="l" defTabSz="914400">
              <a:lnSpc>
                <a:spcPct val="100000"/>
              </a:lnSpc>
              <a:buNone/>
              <a:tabLst>
                <a:tab pos="0" algn="l"/>
              </a:tabLst>
            </a:pPr>
            <a:r>
              <a:rPr lang="en-US" sz="3600" b="1" u="none" strike="noStrike">
                <a:solidFill>
                  <a:schemeClr val="lt1"/>
                </a:solidFill>
                <a:effectLst/>
                <a:uFillTx/>
                <a:latin typeface="Cambria"/>
                <a:ea typeface="Cambria"/>
              </a:rPr>
              <a:t>Title</a:t>
            </a:r>
            <a:endParaRPr lang="en-US" sz="3600" b="1" u="none" strike="noStrike">
              <a:solidFill>
                <a:schemeClr val="lt1"/>
              </a:solidFill>
              <a:effectLst/>
              <a:uFillTx/>
              <a:latin typeface="Cambria"/>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1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13" name="PlaceHolder 1"/>
          <p:cNvSpPr>
            <a:spLocks noGrp="1"/>
          </p:cNvSpPr>
          <p:nvPr>
            <p:ph type="body"/>
          </p:nvPr>
        </p:nvSpPr>
        <p:spPr>
          <a:xfrm>
            <a:off x="228600" y="228600"/>
            <a:ext cx="1173420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tabLst>
                <a:tab pos="0" algn="l"/>
              </a:tabLst>
            </a:pPr>
            <a:r>
              <a:rPr lang="en-US" sz="1600" b="0" u="none" strike="noStrike">
                <a:solidFill>
                  <a:schemeClr val="accent4"/>
                </a:solidFill>
                <a:effectLst/>
                <a:uFillTx/>
                <a:latin typeface="Calibri"/>
              </a:rPr>
              <a:t>Click the icon to add a photo of the plywood shapes</a:t>
            </a:r>
            <a:endParaRPr lang="en-US" sz="1600" b="0" u="none" strike="noStrike">
              <a:solidFill>
                <a:schemeClr val="accent4"/>
              </a:solidFill>
              <a:effectLst/>
              <a:uFillTx/>
              <a:latin typeface="Calibri"/>
            </a:endParaRPr>
          </a:p>
        </p:txBody>
      </p:sp>
      <p:sp>
        <p:nvSpPr>
          <p:cNvPr id="1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15" name="PlaceHolder 1"/>
          <p:cNvSpPr>
            <a:spLocks noGrp="1"/>
          </p:cNvSpPr>
          <p:nvPr>
            <p:ph type="body"/>
          </p:nvPr>
        </p:nvSpPr>
        <p:spPr>
          <a:xfrm>
            <a:off x="228600" y="228600"/>
            <a:ext cx="1173420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tabLst>
                <a:tab pos="0" algn="l"/>
              </a:tabLst>
            </a:pPr>
            <a:r>
              <a:rPr lang="en-US" sz="1600" b="0" u="none" strike="noStrike">
                <a:solidFill>
                  <a:schemeClr val="accent4"/>
                </a:solidFill>
                <a:effectLst/>
                <a:uFillTx/>
                <a:latin typeface="Calibri"/>
              </a:rPr>
              <a:t>Click the icon to add a photo of the laser cutter in action</a:t>
            </a:r>
            <a:endParaRPr lang="en-US" sz="1600" b="0" u="none" strike="noStrike">
              <a:solidFill>
                <a:schemeClr val="accent4"/>
              </a:solidFill>
              <a:effectLst/>
              <a:uFillTx/>
              <a:latin typeface="Calibri"/>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16" name="PlaceHolder 1"/>
          <p:cNvSpPr>
            <a:spLocks noGrp="1"/>
          </p:cNvSpPr>
          <p:nvPr>
            <p:ph type="body"/>
          </p:nvPr>
        </p:nvSpPr>
        <p:spPr>
          <a:xfrm>
            <a:off x="228600" y="228600"/>
            <a:ext cx="383796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tabLst>
                <a:tab pos="0" algn="l"/>
              </a:tabLst>
            </a:pPr>
            <a:r>
              <a:rPr lang="en-US" sz="1600" b="0" u="none" strike="noStrike">
                <a:solidFill>
                  <a:schemeClr val="accent4"/>
                </a:solidFill>
                <a:effectLst/>
                <a:uFillTx/>
                <a:latin typeface="Calibri"/>
              </a:rPr>
              <a:t>Click the icon to add a Sector67 lamp photo</a:t>
            </a:r>
            <a:endParaRPr lang="en-US" sz="1600" b="0" u="none" strike="noStrike">
              <a:solidFill>
                <a:schemeClr val="accent4"/>
              </a:solidFill>
              <a:effectLst/>
              <a:uFillTx/>
              <a:latin typeface="Calibri"/>
            </a:endParaRPr>
          </a:p>
        </p:txBody>
      </p:sp>
      <p:sp>
        <p:nvSpPr>
          <p:cNvPr id="17" name="PlaceHolder 2"/>
          <p:cNvSpPr>
            <a:spLocks noGrp="1"/>
          </p:cNvSpPr>
          <p:nvPr>
            <p:ph type="body"/>
          </p:nvPr>
        </p:nvSpPr>
        <p:spPr>
          <a:xfrm>
            <a:off x="4176720" y="228600"/>
            <a:ext cx="383796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buNone/>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buNone/>
              <a:tabLst>
                <a:tab pos="0" algn="l"/>
              </a:tabLst>
            </a:pPr>
            <a:r>
              <a:rPr lang="en-US" sz="1600" b="0" u="none" strike="noStrike">
                <a:solidFill>
                  <a:schemeClr val="accent4"/>
                </a:solidFill>
                <a:effectLst/>
                <a:uFillTx/>
                <a:latin typeface="Calibri"/>
              </a:rPr>
              <a:t>Click the icon to add a Sector67 lamp photo</a:t>
            </a:r>
            <a:endParaRPr lang="en-US" sz="1600" b="0" u="none" strike="noStrike">
              <a:solidFill>
                <a:schemeClr val="accent4"/>
              </a:solidFill>
              <a:effectLst/>
              <a:uFillTx/>
              <a:latin typeface="Calibri"/>
            </a:endParaRPr>
          </a:p>
        </p:txBody>
      </p:sp>
      <p:sp>
        <p:nvSpPr>
          <p:cNvPr id="18" name="PlaceHolder 3"/>
          <p:cNvSpPr>
            <a:spLocks noGrp="1"/>
          </p:cNvSpPr>
          <p:nvPr>
            <p:ph type="body"/>
          </p:nvPr>
        </p:nvSpPr>
        <p:spPr>
          <a:xfrm>
            <a:off x="8124840" y="228600"/>
            <a:ext cx="383796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buNone/>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buNone/>
              <a:tabLst>
                <a:tab pos="0" algn="l"/>
              </a:tabLst>
            </a:pPr>
            <a:r>
              <a:rPr lang="en-US" sz="1600" b="0" u="none" strike="noStrike">
                <a:solidFill>
                  <a:schemeClr val="accent4"/>
                </a:solidFill>
                <a:effectLst/>
                <a:uFillTx/>
                <a:latin typeface="Calibri"/>
              </a:rPr>
              <a:t>Click the icon to add a Sector67 lamp photo</a:t>
            </a:r>
            <a:endParaRPr lang="en-US" sz="1600" b="0" u="none" strike="noStrike">
              <a:solidFill>
                <a:schemeClr val="accent4"/>
              </a:solidFill>
              <a:effectLst/>
              <a:uFillTx/>
              <a:latin typeface="Calibri"/>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82B"/>
        </a:solidFill>
      </p:bgPr>
    </p:bg>
    <p:spTree>
      <p:nvGrpSpPr>
        <p:cNvPr id="1" name=""/>
        <p:cNvGrpSpPr/>
        <p:nvPr/>
      </p:nvGrpSpPr>
      <p:grpSpPr>
        <a:xfrm>
          <a:off x="0" y="0"/>
          <a:ext cx="0" cy="0"/>
          <a:chOff x="0" y="0"/>
          <a:chExt cx="0" cy="0"/>
        </a:xfrm>
      </p:grpSpPr>
      <p:sp>
        <p:nvSpPr>
          <p:cNvPr id="19" name="PlaceHolder 1"/>
          <p:cNvSpPr>
            <a:spLocks noGrp="1"/>
          </p:cNvSpPr>
          <p:nvPr>
            <p:ph type="body"/>
          </p:nvPr>
        </p:nvSpPr>
        <p:spPr>
          <a:xfrm>
            <a:off x="6150600" y="228600"/>
            <a:ext cx="5812200" cy="6400440"/>
          </a:xfrm>
          <a:prstGeom prst="rect">
            <a:avLst/>
          </a:prstGeom>
          <a:noFill/>
          <a:ln w="0">
            <a:noFill/>
          </a:ln>
        </p:spPr>
        <p:txBody>
          <a:bodyPr lIns="90000" tIns="45000" rIns="90000" bIns="45000" anchor="t">
            <a:noAutofit/>
          </a:bodyPr>
          <a:lstStyle>
            <a:lvl1pPr indent="0" algn="ctr" defTabSz="914400">
              <a:lnSpc>
                <a:spcPct val="100000"/>
              </a:lnSpc>
              <a:spcBef>
                <a:spcPts val="320"/>
              </a:spcBef>
              <a:tabLst>
                <a:tab pos="0" algn="l"/>
              </a:tabLst>
              <a:defRPr lang="en-US" sz="1600" b="0" u="none" strike="noStrike">
                <a:solidFill>
                  <a:schemeClr val="accent4"/>
                </a:solidFill>
                <a:effectLst/>
                <a:uFillTx/>
                <a:latin typeface="Calibri"/>
              </a:defRPr>
            </a:lvl1pPr>
          </a:lstStyle>
          <a:p>
            <a:pPr indent="0" algn="ctr" defTabSz="914400">
              <a:lnSpc>
                <a:spcPct val="100000"/>
              </a:lnSpc>
              <a:spcBef>
                <a:spcPts val="320"/>
              </a:spcBef>
              <a:tabLst>
                <a:tab pos="0" algn="l"/>
              </a:tabLst>
            </a:pPr>
            <a:r>
              <a:rPr lang="en-US" sz="1600" b="0" u="none" strike="noStrike">
                <a:solidFill>
                  <a:schemeClr val="accent4"/>
                </a:solidFill>
                <a:effectLst/>
                <a:uFillTx/>
                <a:latin typeface="Calibri"/>
              </a:rPr>
              <a:t>Click the icon to add a WebXR screenshot</a:t>
            </a:r>
            <a:endParaRPr lang="en-US" sz="1600" b="0" u="none" strike="noStrike">
              <a:solidFill>
                <a:schemeClr val="accent4"/>
              </a:solidFill>
              <a:effectLst/>
              <a:uFillTx/>
              <a:latin typeface="Calibri"/>
            </a:endParaRPr>
          </a:p>
        </p:txBody>
      </p:sp>
      <p:sp>
        <p:nvSpPr>
          <p:cNvPr id="20"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video" Target="../media/media5.mp4"/><Relationship Id="rId2" Type="http://schemas.microsoft.com/office/2007/relationships/media" Target="../media/media5.mp4"/><Relationship Id="rId3" Type="http://schemas.openxmlformats.org/officeDocument/2006/relationships/image" Target="../media/image6.png"/><Relationship Id="rId4" Type="http://schemas.openxmlformats.org/officeDocument/2006/relationships/slideLayout" Target="../slideLayouts/slideLayout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5.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slideLayout" Target="../slideLayouts/slideLayout5.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slideLayout" Target="../slideLayouts/slideLayout5.xml"/><Relationship Id="rId19"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slideLayout" Target="../slideLayouts/slideLayout5.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5.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image" Target="../media/image35.jpeg"/><Relationship Id="rId3" Type="http://schemas.openxmlformats.org/officeDocument/2006/relationships/image" Target="../media/image36.jpeg"/><Relationship Id="rId4" Type="http://schemas.openxmlformats.org/officeDocument/2006/relationships/image" Target="../media/image37.jpeg"/><Relationship Id="rId5" Type="http://schemas.openxmlformats.org/officeDocument/2006/relationships/image" Target="../media/image38.jpeg"/><Relationship Id="rId6" Type="http://schemas.openxmlformats.org/officeDocument/2006/relationships/image" Target="../media/image39.jpeg"/><Relationship Id="rId7" Type="http://schemas.openxmlformats.org/officeDocument/2006/relationships/slideLayout" Target="../slideLayouts/slideLayout5.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0.jpeg"/><Relationship Id="rId2" Type="http://schemas.openxmlformats.org/officeDocument/2006/relationships/image" Target="../media/image41.jpeg"/><Relationship Id="rId3" Type="http://schemas.openxmlformats.org/officeDocument/2006/relationships/slideLayout" Target="../slideLayouts/slideLayout5.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5.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5.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slideLayout" Target="../slideLayouts/slideLayout5.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6.jpeg"/><Relationship Id="rId2" Type="http://schemas.openxmlformats.org/officeDocument/2006/relationships/image" Target="../media/image47.jpeg"/><Relationship Id="rId3" Type="http://schemas.openxmlformats.org/officeDocument/2006/relationships/slideLayout" Target="../slideLayouts/slideLayout5.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8.jpeg"/><Relationship Id="rId2" Type="http://schemas.openxmlformats.org/officeDocument/2006/relationships/slideLayout" Target="../slideLayouts/slideLayout5.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9.jpeg"/><Relationship Id="rId2" Type="http://schemas.openxmlformats.org/officeDocument/2006/relationships/slideLayout" Target="../slideLayouts/slideLayout6.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5.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548640" y="2011680"/>
            <a:ext cx="6034680" cy="1371240"/>
          </a:xfrm>
          <a:prstGeom prst="rect">
            <a:avLst/>
          </a:prstGeom>
          <a:noFill/>
          <a:ln w="0">
            <a:noFill/>
          </a:ln>
        </p:spPr>
        <p:txBody>
          <a:bodyPr lIns="0" tIns="0" rIns="0" bIns="0" anchor="b">
            <a:noAutofit/>
          </a:bodyPr>
          <a:p>
            <a:pPr indent="0" algn="l" defTabSz="914400">
              <a:lnSpc>
                <a:spcPct val="100000"/>
              </a:lnSpc>
              <a:buNone/>
              <a:tabLst>
                <a:tab pos="0" algn="l"/>
              </a:tabLst>
            </a:pPr>
            <a:r>
              <a:rPr lang="en-US" sz="5400" b="1" u="none" strike="noStrike">
                <a:solidFill>
                  <a:schemeClr val="lt1"/>
                </a:solidFill>
                <a:effectLst/>
                <a:uFillTx/>
                <a:latin typeface="Cambria"/>
                <a:ea typeface="Cambria"/>
              </a:rPr>
              <a:t>Wanderers Star</a:t>
            </a:r>
            <a:endParaRPr lang="en-US" sz="5400" b="1" u="none" strike="noStrike">
              <a:solidFill>
                <a:schemeClr val="lt1"/>
              </a:solidFill>
              <a:effectLst/>
              <a:uFillTx/>
              <a:latin typeface="Cambria"/>
            </a:endParaRPr>
          </a:p>
        </p:txBody>
      </p:sp>
      <p:sp>
        <p:nvSpPr>
          <p:cNvPr id="28" name="PlaceHolder 2"/>
          <p:cNvSpPr>
            <a:spLocks noGrp="1"/>
          </p:cNvSpPr>
          <p:nvPr>
            <p:ph/>
          </p:nvPr>
        </p:nvSpPr>
        <p:spPr>
          <a:xfrm>
            <a:off x="548640" y="3520440"/>
            <a:ext cx="5851800" cy="1462680"/>
          </a:xfrm>
          <a:prstGeom prst="rect">
            <a:avLst/>
          </a:prstGeom>
          <a:noFill/>
          <a:ln w="0">
            <a:noFill/>
          </a:ln>
        </p:spPr>
        <p:txBody>
          <a:bodyPr lIns="0" tIns="0" rIns="0" bIns="0" anchor="t">
            <a:noAutofit/>
          </a:bodyPr>
          <a:p>
            <a:pPr indent="0" algn="l" defTabSz="914400">
              <a:lnSpc>
                <a:spcPct val="100000"/>
              </a:lnSpc>
              <a:spcBef>
                <a:spcPts val="400"/>
              </a:spcBef>
              <a:buNone/>
              <a:tabLst>
                <a:tab pos="0" algn="l"/>
              </a:tabLst>
            </a:pPr>
            <a:r>
              <a:rPr lang="en-US" sz="2000" b="0" u="none" strike="noStrike">
                <a:solidFill>
                  <a:schemeClr val="accent6"/>
                </a:solidFill>
                <a:effectLst/>
                <a:uFillTx/>
                <a:latin typeface="Calibri"/>
              </a:rPr>
              <a:t>A laser-cut, light-up small stellated dodecahedron: 60 golden triangles, 60 patterns</a:t>
            </a:r>
            <a:endParaRPr lang="en-US" sz="2000" b="0" u="none" strike="noStrike">
              <a:solidFill>
                <a:schemeClr val="accent6"/>
              </a:solidFill>
              <a:effectLst/>
              <a:uFillTx/>
              <a:latin typeface="Calibri"/>
            </a:endParaRPr>
          </a:p>
        </p:txBody>
      </p:sp>
      <p:pic>
        <p:nvPicPr>
          <p:cNvPr id="29" name="Image 0" descr="Rendering of the small stellated dodecahedron"/>
          <p:cNvPicPr/>
          <p:nvPr/>
        </p:nvPicPr>
        <p:blipFill>
          <a:blip r:embed="rId1"/>
          <a:stretch/>
        </p:blipFill>
        <p:spPr>
          <a:xfrm>
            <a:off x="6400800" y="502920"/>
            <a:ext cx="5851800" cy="5851800"/>
          </a:xfrm>
          <a:prstGeom prst="rect">
            <a:avLst/>
          </a:prstGeom>
          <a:noFill/>
          <a:ln w="0">
            <a:noFill/>
          </a:ln>
        </p:spPr>
      </p:pic>
      <p:sp>
        <p:nvSpPr>
          <p:cNvPr id="30" name="Text 2"/>
          <p:cNvSpPr/>
          <p:nvPr/>
        </p:nvSpPr>
        <p:spPr>
          <a:xfrm>
            <a:off x="548640" y="5989320"/>
            <a:ext cx="5486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accent1"/>
                </a:solidFill>
                <a:effectLst/>
                <a:uFillTx/>
                <a:latin typeface="Calibri"/>
              </a:rPr>
              <a:t>Sector67 show-and-tell</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548640" y="457200"/>
            <a:ext cx="11094120" cy="776880"/>
          </a:xfrm>
          <a:prstGeom prst="rect">
            <a:avLst/>
          </a:prstGeom>
          <a:noFill/>
          <a:ln w="0">
            <a:noFill/>
          </a:ln>
        </p:spPr>
        <p:txBody>
          <a:bodyPr lIns="0" tIns="0" rIns="0" bIns="0" anchor="t">
            <a:noAutofit/>
          </a:bodyPr>
          <a:p>
            <a:pPr indent="0" algn="l" defTabSz="914400">
              <a:lnSpc>
                <a:spcPct val="100000"/>
              </a:lnSpc>
              <a:buNone/>
              <a:tabLst>
                <a:tab pos="0" algn="l"/>
              </a:tabLst>
            </a:pPr>
            <a:r>
              <a:rPr lang="en-US" sz="3600" b="1" u="none" strike="noStrike">
                <a:solidFill>
                  <a:schemeClr val="lt1"/>
                </a:solidFill>
                <a:effectLst/>
                <a:uFillTx/>
                <a:latin typeface="Cambria"/>
                <a:ea typeface="Cambria"/>
              </a:rPr>
              <a:t>A small stellated dodecahedron</a:t>
            </a:r>
            <a:endParaRPr lang="en-US" sz="3600" b="1" u="none" strike="noStrike">
              <a:solidFill>
                <a:schemeClr val="lt1"/>
              </a:solidFill>
              <a:effectLst/>
              <a:uFillTx/>
              <a:latin typeface="Cambria"/>
            </a:endParaRPr>
          </a:p>
        </p:txBody>
      </p:sp>
      <p:pic>
        <p:nvPicPr>
          <p:cNvPr id="32" name="Image 0" descr="Small stellated dodecahedron with one golden-triangle panel highlighted in teal"/>
          <p:cNvPicPr/>
          <p:nvPr/>
        </p:nvPicPr>
        <p:blipFill>
          <a:blip r:embed="rId1"/>
          <a:stretch/>
        </p:blipFill>
        <p:spPr>
          <a:xfrm>
            <a:off x="365760" y="1417320"/>
            <a:ext cx="5120280" cy="5120280"/>
          </a:xfrm>
          <a:prstGeom prst="rect">
            <a:avLst/>
          </a:prstGeom>
          <a:noFill/>
          <a:ln w="0">
            <a:noFill/>
          </a:ln>
        </p:spPr>
      </p:pic>
      <p:sp>
        <p:nvSpPr>
          <p:cNvPr id="33" name="stat-0"/>
          <p:cNvSpPr/>
          <p:nvPr/>
        </p:nvSpPr>
        <p:spPr>
          <a:xfrm>
            <a:off x="5513760" y="160020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 name="Text 2"/>
          <p:cNvSpPr/>
          <p:nvPr/>
        </p:nvSpPr>
        <p:spPr>
          <a:xfrm>
            <a:off x="5696640" y="182880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200" b="1" u="none" strike="noStrike">
                <a:solidFill>
                  <a:schemeClr val="accent2"/>
                </a:solidFill>
                <a:effectLst/>
                <a:uFillTx/>
                <a:latin typeface="Cambria"/>
                <a:ea typeface="Cambria"/>
              </a:rPr>
              <a:t>60</a:t>
            </a:r>
            <a:endParaRPr lang="en-US" sz="4200" b="0" u="none" strike="noStrike">
              <a:solidFill>
                <a:srgbClr val="FFFFFF"/>
              </a:solidFill>
              <a:effectLst/>
              <a:uFillTx/>
              <a:latin typeface="Arial"/>
            </a:endParaRPr>
          </a:p>
        </p:txBody>
      </p:sp>
      <p:sp>
        <p:nvSpPr>
          <p:cNvPr id="35" name="Text 3"/>
          <p:cNvSpPr/>
          <p:nvPr/>
        </p:nvSpPr>
        <p:spPr>
          <a:xfrm>
            <a:off x="5696640" y="274320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golden-triangle panels, each with its own pattern</a:t>
            </a:r>
            <a:endParaRPr lang="en-US" sz="1500" b="0" u="none" strike="noStrike">
              <a:solidFill>
                <a:srgbClr val="FFFFFF"/>
              </a:solidFill>
              <a:effectLst/>
              <a:uFillTx/>
              <a:latin typeface="Arial"/>
            </a:endParaRPr>
          </a:p>
        </p:txBody>
      </p:sp>
      <p:sp>
        <p:nvSpPr>
          <p:cNvPr id="36" name="stat-1"/>
          <p:cNvSpPr/>
          <p:nvPr/>
        </p:nvSpPr>
        <p:spPr>
          <a:xfrm>
            <a:off x="7571160" y="160020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7" name="Text 5"/>
          <p:cNvSpPr/>
          <p:nvPr/>
        </p:nvSpPr>
        <p:spPr>
          <a:xfrm>
            <a:off x="7754040" y="182880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200" b="1" u="none" strike="noStrike">
                <a:solidFill>
                  <a:schemeClr val="accent1"/>
                </a:solidFill>
                <a:effectLst/>
                <a:uFillTx/>
                <a:latin typeface="Cambria"/>
                <a:ea typeface="Cambria"/>
              </a:rPr>
              <a:t>12</a:t>
            </a:r>
            <a:endParaRPr lang="en-US" sz="4200" b="0" u="none" strike="noStrike">
              <a:solidFill>
                <a:srgbClr val="FFFFFF"/>
              </a:solidFill>
              <a:effectLst/>
              <a:uFillTx/>
              <a:latin typeface="Arial"/>
            </a:endParaRPr>
          </a:p>
        </p:txBody>
      </p:sp>
      <p:sp>
        <p:nvSpPr>
          <p:cNvPr id="38" name="Text 6"/>
          <p:cNvSpPr/>
          <p:nvPr/>
        </p:nvSpPr>
        <p:spPr>
          <a:xfrm>
            <a:off x="7754040" y="274320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star points, 5 panels each</a:t>
            </a:r>
            <a:endParaRPr lang="en-US" sz="1500" b="0" u="none" strike="noStrike">
              <a:solidFill>
                <a:srgbClr val="FFFFFF"/>
              </a:solidFill>
              <a:effectLst/>
              <a:uFillTx/>
              <a:latin typeface="Arial"/>
            </a:endParaRPr>
          </a:p>
        </p:txBody>
      </p:sp>
      <p:sp>
        <p:nvSpPr>
          <p:cNvPr id="39" name="stat-2"/>
          <p:cNvSpPr/>
          <p:nvPr/>
        </p:nvSpPr>
        <p:spPr>
          <a:xfrm>
            <a:off x="9628560" y="160020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 name="Text 8"/>
          <p:cNvSpPr/>
          <p:nvPr/>
        </p:nvSpPr>
        <p:spPr>
          <a:xfrm>
            <a:off x="9811440" y="182880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200" b="1" u="none" strike="noStrike">
                <a:solidFill>
                  <a:schemeClr val="accent1"/>
                </a:solidFill>
                <a:effectLst/>
                <a:uFillTx/>
                <a:latin typeface="Cambria"/>
                <a:ea typeface="Cambria"/>
              </a:rPr>
              <a:t>12</a:t>
            </a:r>
            <a:endParaRPr lang="en-US" sz="4200" b="0" u="none" strike="noStrike">
              <a:solidFill>
                <a:srgbClr val="FFFFFF"/>
              </a:solidFill>
              <a:effectLst/>
              <a:uFillTx/>
              <a:latin typeface="Arial"/>
            </a:endParaRPr>
          </a:p>
        </p:txBody>
      </p:sp>
      <p:sp>
        <p:nvSpPr>
          <p:cNvPr id="41" name="Text 9"/>
          <p:cNvSpPr/>
          <p:nvPr/>
        </p:nvSpPr>
        <p:spPr>
          <a:xfrm>
            <a:off x="9811440" y="274320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pentagon bases hidden in the core</a:t>
            </a:r>
            <a:endParaRPr lang="en-US" sz="1500" b="0" u="none" strike="noStrike">
              <a:solidFill>
                <a:srgbClr val="FFFFFF"/>
              </a:solidFill>
              <a:effectLst/>
              <a:uFillTx/>
              <a:latin typeface="Arial"/>
            </a:endParaRPr>
          </a:p>
        </p:txBody>
      </p:sp>
      <p:sp>
        <p:nvSpPr>
          <p:cNvPr id="42" name="stat-3"/>
          <p:cNvSpPr/>
          <p:nvPr/>
        </p:nvSpPr>
        <p:spPr>
          <a:xfrm>
            <a:off x="5513760" y="402336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 name="Text 11"/>
          <p:cNvSpPr/>
          <p:nvPr/>
        </p:nvSpPr>
        <p:spPr>
          <a:xfrm>
            <a:off x="5696640" y="425196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3000" b="1" u="none" strike="noStrike">
                <a:solidFill>
                  <a:schemeClr val="accent1"/>
                </a:solidFill>
                <a:effectLst/>
                <a:uFillTx/>
                <a:latin typeface="Cambria"/>
                <a:ea typeface="Cambria"/>
              </a:rPr>
              <a:t>≈75 cm</a:t>
            </a:r>
            <a:endParaRPr lang="en-US" sz="3000" b="0" u="none" strike="noStrike">
              <a:solidFill>
                <a:srgbClr val="FFFFFF"/>
              </a:solidFill>
              <a:effectLst/>
              <a:uFillTx/>
              <a:latin typeface="Arial"/>
            </a:endParaRPr>
          </a:p>
        </p:txBody>
      </p:sp>
      <p:sp>
        <p:nvSpPr>
          <p:cNvPr id="44" name="Text 12"/>
          <p:cNvSpPr/>
          <p:nvPr/>
        </p:nvSpPr>
        <p:spPr>
          <a:xfrm>
            <a:off x="5696640" y="516636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tip to tip</a:t>
            </a:r>
            <a:endParaRPr lang="en-US" sz="1500" b="0" u="none" strike="noStrike">
              <a:solidFill>
                <a:srgbClr val="FFFFFF"/>
              </a:solidFill>
              <a:effectLst/>
              <a:uFillTx/>
              <a:latin typeface="Arial"/>
            </a:endParaRPr>
          </a:p>
        </p:txBody>
      </p:sp>
      <p:sp>
        <p:nvSpPr>
          <p:cNvPr id="45" name="stat-4"/>
          <p:cNvSpPr/>
          <p:nvPr/>
        </p:nvSpPr>
        <p:spPr>
          <a:xfrm>
            <a:off x="7571160" y="402336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 name="Text 14"/>
          <p:cNvSpPr/>
          <p:nvPr/>
        </p:nvSpPr>
        <p:spPr>
          <a:xfrm>
            <a:off x="7754040" y="425196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200" b="1" u="none" strike="noStrike">
                <a:solidFill>
                  <a:schemeClr val="accent1"/>
                </a:solidFill>
                <a:effectLst/>
                <a:uFillTx/>
                <a:latin typeface="Cambria"/>
                <a:ea typeface="Cambria"/>
              </a:rPr>
              <a:t>36</a:t>
            </a:r>
            <a:endParaRPr lang="en-US" sz="4200" b="0" u="none" strike="noStrike">
              <a:solidFill>
                <a:srgbClr val="FFFFFF"/>
              </a:solidFill>
              <a:effectLst/>
              <a:uFillTx/>
              <a:latin typeface="Arial"/>
            </a:endParaRPr>
          </a:p>
        </p:txBody>
      </p:sp>
      <p:sp>
        <p:nvSpPr>
          <p:cNvPr id="47" name="Text 15"/>
          <p:cNvSpPr/>
          <p:nvPr/>
        </p:nvSpPr>
        <p:spPr>
          <a:xfrm>
            <a:off x="7754040" y="516636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addressable RGB LEDs, 3 per point</a:t>
            </a:r>
            <a:endParaRPr lang="en-US" sz="1500" b="0" u="none" strike="noStrike">
              <a:solidFill>
                <a:srgbClr val="FFFFFF"/>
              </a:solidFill>
              <a:effectLst/>
              <a:uFillTx/>
              <a:latin typeface="Arial"/>
            </a:endParaRPr>
          </a:p>
        </p:txBody>
      </p:sp>
      <p:sp>
        <p:nvSpPr>
          <p:cNvPr id="48" name="stat-5"/>
          <p:cNvSpPr/>
          <p:nvPr/>
        </p:nvSpPr>
        <p:spPr>
          <a:xfrm>
            <a:off x="9628560" y="4023360"/>
            <a:ext cx="1919880" cy="2239920"/>
          </a:xfrm>
          <a:prstGeom prst="roundRect">
            <a:avLst>
              <a:gd name="adj" fmla="val 4762"/>
            </a:avLst>
          </a:prstGeom>
          <a:solidFill>
            <a:schemeClr val="dk2"/>
          </a:solidFill>
          <a:ln w="12600">
            <a:solidFill>
              <a:schemeClr val="dk2"/>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9" name="Text 17"/>
          <p:cNvSpPr/>
          <p:nvPr/>
        </p:nvSpPr>
        <p:spPr>
          <a:xfrm>
            <a:off x="9811440" y="4251960"/>
            <a:ext cx="1599840" cy="82260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4200" b="1" u="none" strike="noStrike">
                <a:solidFill>
                  <a:schemeClr val="accent1"/>
                </a:solidFill>
                <a:effectLst/>
                <a:uFillTx/>
                <a:latin typeface="Cambria"/>
                <a:ea typeface="Cambria"/>
              </a:rPr>
              <a:t>1</a:t>
            </a:r>
            <a:endParaRPr lang="en-US" sz="4200" b="0" u="none" strike="noStrike">
              <a:solidFill>
                <a:srgbClr val="FFFFFF"/>
              </a:solidFill>
              <a:effectLst/>
              <a:uFillTx/>
              <a:latin typeface="Arial"/>
            </a:endParaRPr>
          </a:p>
        </p:txBody>
      </p:sp>
      <p:sp>
        <p:nvSpPr>
          <p:cNvPr id="50" name="Text 18"/>
          <p:cNvSpPr/>
          <p:nvPr/>
        </p:nvSpPr>
        <p:spPr>
          <a:xfrm>
            <a:off x="9811440" y="5166360"/>
            <a:ext cx="15998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6"/>
                </a:solidFill>
                <a:effectLst/>
                <a:uFillTx/>
                <a:latin typeface="Calibri"/>
              </a:rPr>
              <a:t>ESP32 running the light shows</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548640" y="457200"/>
            <a:ext cx="11094120" cy="776880"/>
          </a:xfrm>
          <a:prstGeom prst="rect">
            <a:avLst/>
          </a:prstGeom>
          <a:noFill/>
          <a:ln w="0">
            <a:noFill/>
          </a:ln>
        </p:spPr>
        <p:txBody>
          <a:bodyPr lIns="0" tIns="0" rIns="0" bIns="0" anchor="t">
            <a:noAutofit/>
          </a:bodyPr>
          <a:p>
            <a:pPr indent="0" algn="l" defTabSz="914400">
              <a:lnSpc>
                <a:spcPct val="100000"/>
              </a:lnSpc>
              <a:buNone/>
              <a:tabLst>
                <a:tab pos="0" algn="l"/>
              </a:tabLst>
            </a:pPr>
            <a:r>
              <a:rPr lang="en-US" sz="3600" b="1" u="none" strike="noStrike">
                <a:solidFill>
                  <a:schemeClr val="lt1"/>
                </a:solidFill>
                <a:effectLst/>
                <a:uFillTx/>
                <a:latin typeface="Cambria"/>
                <a:ea typeface="Cambria"/>
              </a:rPr>
              <a:t>Every panel is a golden triangle</a:t>
            </a:r>
            <a:endParaRPr lang="en-US" sz="3600" b="1" u="none" strike="noStrike">
              <a:solidFill>
                <a:schemeClr val="lt1"/>
              </a:solidFill>
              <a:effectLst/>
              <a:uFillTx/>
              <a:latin typeface="Cambria"/>
            </a:endParaRPr>
          </a:p>
        </p:txBody>
      </p:sp>
      <p:pic>
        <p:nvPicPr>
          <p:cNvPr id="52" name="Image 0" descr="Golden triangle with 36 and 72 degree angles, 150 mm base, 242.7 mm legs; teal smaller golden triangle inside"/>
          <p:cNvPicPr/>
          <p:nvPr/>
        </p:nvPicPr>
        <p:blipFill>
          <a:blip r:embed="rId1"/>
          <a:stretch/>
        </p:blipFill>
        <p:spPr>
          <a:xfrm>
            <a:off x="548640" y="1431720"/>
            <a:ext cx="4480200" cy="5091120"/>
          </a:xfrm>
          <a:prstGeom prst="rect">
            <a:avLst/>
          </a:prstGeom>
          <a:noFill/>
          <a:ln w="0">
            <a:noFill/>
          </a:ln>
        </p:spPr>
      </p:pic>
      <p:sp>
        <p:nvSpPr>
          <p:cNvPr id="53" name="Text 1"/>
          <p:cNvSpPr/>
          <p:nvPr/>
        </p:nvSpPr>
        <p:spPr>
          <a:xfrm>
            <a:off x="5486400" y="1645920"/>
            <a:ext cx="6126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ANGLES</a:t>
            </a:r>
            <a:endParaRPr lang="en-US" sz="1200" b="0" u="none" strike="noStrike">
              <a:solidFill>
                <a:srgbClr val="FFFFFF"/>
              </a:solidFill>
              <a:effectLst/>
              <a:uFillTx/>
              <a:latin typeface="Arial"/>
            </a:endParaRPr>
          </a:p>
        </p:txBody>
      </p:sp>
      <p:sp>
        <p:nvSpPr>
          <p:cNvPr id="54" name="Text 2"/>
          <p:cNvSpPr/>
          <p:nvPr/>
        </p:nvSpPr>
        <p:spPr>
          <a:xfrm>
            <a:off x="5486400" y="1920240"/>
            <a:ext cx="6126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36° · 72° · 72°</a:t>
            </a:r>
            <a:endParaRPr lang="en-US" sz="2600" b="0" u="none" strike="noStrike">
              <a:solidFill>
                <a:srgbClr val="FFFFFF"/>
              </a:solidFill>
              <a:effectLst/>
              <a:uFillTx/>
              <a:latin typeface="Arial"/>
            </a:endParaRPr>
          </a:p>
        </p:txBody>
      </p:sp>
      <p:sp>
        <p:nvSpPr>
          <p:cNvPr id="55" name="Text 3"/>
          <p:cNvSpPr/>
          <p:nvPr/>
        </p:nvSpPr>
        <p:spPr>
          <a:xfrm>
            <a:off x="5486400" y="2395800"/>
            <a:ext cx="612612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accent6"/>
                </a:solidFill>
                <a:effectLst/>
                <a:uFillTx/>
                <a:latin typeface="Calibri"/>
              </a:rPr>
              <a:t>Angles in a 1 : 2 : 2 ratio; the apex is 36° = 180° ÷ 5</a:t>
            </a:r>
            <a:endParaRPr lang="en-US" sz="1500" b="0" u="none" strike="noStrike">
              <a:solidFill>
                <a:srgbClr val="FFFFFF"/>
              </a:solidFill>
              <a:effectLst/>
              <a:uFillTx/>
              <a:latin typeface="Arial"/>
            </a:endParaRPr>
          </a:p>
        </p:txBody>
      </p:sp>
      <p:sp>
        <p:nvSpPr>
          <p:cNvPr id="56" name="Text 4"/>
          <p:cNvSpPr/>
          <p:nvPr/>
        </p:nvSpPr>
        <p:spPr>
          <a:xfrm>
            <a:off x="5486400" y="2834640"/>
            <a:ext cx="6126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RATIO</a:t>
            </a:r>
            <a:endParaRPr lang="en-US" sz="1200" b="0" u="none" strike="noStrike">
              <a:solidFill>
                <a:srgbClr val="FFFFFF"/>
              </a:solidFill>
              <a:effectLst/>
              <a:uFillTx/>
              <a:latin typeface="Arial"/>
            </a:endParaRPr>
          </a:p>
        </p:txBody>
      </p:sp>
      <p:sp>
        <p:nvSpPr>
          <p:cNvPr id="57" name="Text 5"/>
          <p:cNvSpPr/>
          <p:nvPr/>
        </p:nvSpPr>
        <p:spPr>
          <a:xfrm>
            <a:off x="5486400" y="3108960"/>
            <a:ext cx="6126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leg ÷ base = φ ≈ 1.618</a:t>
            </a:r>
            <a:endParaRPr lang="en-US" sz="2600" b="0" u="none" strike="noStrike">
              <a:solidFill>
                <a:srgbClr val="FFFFFF"/>
              </a:solidFill>
              <a:effectLst/>
              <a:uFillTx/>
              <a:latin typeface="Arial"/>
            </a:endParaRPr>
          </a:p>
        </p:txBody>
      </p:sp>
      <p:sp>
        <p:nvSpPr>
          <p:cNvPr id="58" name="Text 6"/>
          <p:cNvSpPr/>
          <p:nvPr/>
        </p:nvSpPr>
        <p:spPr>
          <a:xfrm>
            <a:off x="5486400" y="3584520"/>
            <a:ext cx="612612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accent6"/>
                </a:solidFill>
                <a:effectLst/>
                <a:uFillTx/>
                <a:latin typeface="Calibri"/>
              </a:rPr>
              <a:t>φ = (1 + √5) ÷ 2, the golden ratio</a:t>
            </a:r>
            <a:endParaRPr lang="en-US" sz="1500" b="0" u="none" strike="noStrike">
              <a:solidFill>
                <a:srgbClr val="FFFFFF"/>
              </a:solidFill>
              <a:effectLst/>
              <a:uFillTx/>
              <a:latin typeface="Arial"/>
            </a:endParaRPr>
          </a:p>
        </p:txBody>
      </p:sp>
      <p:sp>
        <p:nvSpPr>
          <p:cNvPr id="59" name="Text 7"/>
          <p:cNvSpPr/>
          <p:nvPr/>
        </p:nvSpPr>
        <p:spPr>
          <a:xfrm>
            <a:off x="5486400" y="4023360"/>
            <a:ext cx="6126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MY PANEL</a:t>
            </a:r>
            <a:endParaRPr lang="en-US" sz="1200" b="0" u="none" strike="noStrike">
              <a:solidFill>
                <a:srgbClr val="FFFFFF"/>
              </a:solidFill>
              <a:effectLst/>
              <a:uFillTx/>
              <a:latin typeface="Arial"/>
            </a:endParaRPr>
          </a:p>
        </p:txBody>
      </p:sp>
      <p:sp>
        <p:nvSpPr>
          <p:cNvPr id="60" name="Text 8"/>
          <p:cNvSpPr/>
          <p:nvPr/>
        </p:nvSpPr>
        <p:spPr>
          <a:xfrm>
            <a:off x="5486400" y="4297680"/>
            <a:ext cx="6126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150 × 242.7 × 242.7 mm</a:t>
            </a:r>
            <a:endParaRPr lang="en-US" sz="2600" b="0" u="none" strike="noStrike">
              <a:solidFill>
                <a:srgbClr val="FFFFFF"/>
              </a:solidFill>
              <a:effectLst/>
              <a:uFillTx/>
              <a:latin typeface="Arial"/>
            </a:endParaRPr>
          </a:p>
        </p:txBody>
      </p:sp>
      <p:sp>
        <p:nvSpPr>
          <p:cNvPr id="61" name="Text 9"/>
          <p:cNvSpPr/>
          <p:nvPr/>
        </p:nvSpPr>
        <p:spPr>
          <a:xfrm>
            <a:off x="5486400" y="4773240"/>
            <a:ext cx="612612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accent6"/>
                </a:solidFill>
                <a:effectLst/>
                <a:uFillTx/>
                <a:latin typeface="Calibri"/>
              </a:rPr>
              <a:t>Base × legs; height 230.8 mm, area ≈ 173 cm²</a:t>
            </a:r>
            <a:endParaRPr lang="en-US" sz="1500" b="0" u="none" strike="noStrike">
              <a:solidFill>
                <a:srgbClr val="FFFFFF"/>
              </a:solidFill>
              <a:effectLst/>
              <a:uFillTx/>
              <a:latin typeface="Arial"/>
            </a:endParaRPr>
          </a:p>
        </p:txBody>
      </p:sp>
      <p:sp>
        <p:nvSpPr>
          <p:cNvPr id="62" name="Text 10"/>
          <p:cNvSpPr/>
          <p:nvPr/>
        </p:nvSpPr>
        <p:spPr>
          <a:xfrm>
            <a:off x="5486400" y="5212080"/>
            <a:ext cx="6126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chemeClr val="accent1"/>
                </a:solidFill>
                <a:effectLst/>
                <a:uFillTx/>
                <a:latin typeface="Calibri"/>
              </a:rPr>
              <a:t>SELF-SIMILAR</a:t>
            </a:r>
            <a:endParaRPr lang="en-US" sz="1200" b="0" u="none" strike="noStrike">
              <a:solidFill>
                <a:srgbClr val="FFFFFF"/>
              </a:solidFill>
              <a:effectLst/>
              <a:uFillTx/>
              <a:latin typeface="Arial"/>
            </a:endParaRPr>
          </a:p>
        </p:txBody>
      </p:sp>
      <p:sp>
        <p:nvSpPr>
          <p:cNvPr id="63" name="Text 11"/>
          <p:cNvSpPr/>
          <p:nvPr/>
        </p:nvSpPr>
        <p:spPr>
          <a:xfrm>
            <a:off x="5486400" y="5486400"/>
            <a:ext cx="6126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Bisect a 72° corner</a:t>
            </a:r>
            <a:endParaRPr lang="en-US" sz="2600" b="0" u="none" strike="noStrike">
              <a:solidFill>
                <a:srgbClr val="FFFFFF"/>
              </a:solidFill>
              <a:effectLst/>
              <a:uFillTx/>
              <a:latin typeface="Arial"/>
            </a:endParaRPr>
          </a:p>
        </p:txBody>
      </p:sp>
      <p:sp>
        <p:nvSpPr>
          <p:cNvPr id="64" name="Text 12"/>
          <p:cNvSpPr/>
          <p:nvPr/>
        </p:nvSpPr>
        <p:spPr>
          <a:xfrm>
            <a:off x="5486400" y="5961960"/>
            <a:ext cx="612612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accent6"/>
                </a:solidFill>
                <a:effectLst/>
                <a:uFillTx/>
                <a:latin typeface="Calibri"/>
              </a:rPr>
              <a:t>You get a smaller golden triangle (teal) plus a 36°-36°-108° golden gnomon</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
            <a:hlinkClick r:id="" action="ppaction://media"/>
          </p:cNvPr>
          <p:cNvPicPr/>
          <p:nvPr>
            <a:videoFile r:link="rId1"/>
            <p:extLst>
              <p:ext uri="{DAA4B4D4-6D71-4841-9C94-3DE7FCFB9230}">
                <p14:media r:embed="rId2"/>
              </p:ext>
            </p:extLst>
          </p:nvPr>
        </p:nvPicPr>
        <p:blipFill>
          <a:blip r:embed="rId3"/>
          <a:stretch>
            <a:fillRect/>
          </a:stretch>
        </p:blipFill>
        <p:spPr>
          <a:xfrm>
            <a:off x="0" y="0"/>
            <a:ext cx="12191400" cy="68576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Image 0" descr="Two of my mother's quilts: a kaleidoscope-star quilt and a double wedding ring quilt"/>
          <p:cNvPicPr/>
          <p:nvPr/>
        </p:nvPicPr>
        <p:blipFill>
          <a:blip r:embed="rId1"/>
          <a:stretch/>
        </p:blipFill>
        <p:spPr>
          <a:xfrm>
            <a:off x="0" y="0"/>
            <a:ext cx="1219140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Image 0" descr="Glowing yellow interlocking-piece swirl lamp"/>
          <p:cNvPicPr/>
          <p:nvPr/>
        </p:nvPicPr>
        <p:blipFill>
          <a:blip r:embed="rId1"/>
          <a:stretch/>
        </p:blipFill>
        <p:spPr>
          <a:xfrm>
            <a:off x="228600" y="228600"/>
            <a:ext cx="3837960" cy="6400440"/>
          </a:xfrm>
          <a:prstGeom prst="rect">
            <a:avLst/>
          </a:prstGeom>
          <a:noFill/>
          <a:ln w="0">
            <a:noFill/>
          </a:ln>
        </p:spPr>
      </p:pic>
      <p:pic>
        <p:nvPicPr>
          <p:cNvPr id="68" name="Image 1" descr="Frosted acrylic stellated star lamp with tabbed edges"/>
          <p:cNvPicPr/>
          <p:nvPr/>
        </p:nvPicPr>
        <p:blipFill>
          <a:blip r:embed="rId2"/>
          <a:stretch/>
        </p:blipFill>
        <p:spPr>
          <a:xfrm>
            <a:off x="8124840" y="228600"/>
            <a:ext cx="3837960" cy="6400440"/>
          </a:xfrm>
          <a:prstGeom prst="rect">
            <a:avLst/>
          </a:prstGeom>
          <a:noFill/>
          <a:ln w="0">
            <a:noFill/>
          </a:ln>
        </p:spPr>
      </p:pic>
      <p:pic>
        <p:nvPicPr>
          <p:cNvPr id="69" name="Image 2" descr="Lamp made of Mountain Dew bottles radiating from a lit core"/>
          <p:cNvPicPr/>
          <p:nvPr/>
        </p:nvPicPr>
        <p:blipFill>
          <a:blip r:embed="rId3"/>
          <a:stretch/>
        </p:blipFill>
        <p:spPr>
          <a:xfrm>
            <a:off x="4176720" y="228600"/>
            <a:ext cx="383796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Image 0" descr="Wallpaper group p1 shown with repeated letter F"/>
          <p:cNvPicPr/>
          <p:nvPr/>
        </p:nvPicPr>
        <p:blipFill>
          <a:blip r:embed="rId1"/>
          <a:stretch/>
        </p:blipFill>
        <p:spPr>
          <a:xfrm>
            <a:off x="298440" y="553320"/>
            <a:ext cx="1855800" cy="1855800"/>
          </a:xfrm>
          <a:prstGeom prst="rect">
            <a:avLst/>
          </a:prstGeom>
          <a:noFill/>
          <a:ln w="0">
            <a:noFill/>
          </a:ln>
        </p:spPr>
      </p:pic>
      <p:pic>
        <p:nvPicPr>
          <p:cNvPr id="71" name="Image 1" descr="Wallpaper group p2 shown with repeated letter F"/>
          <p:cNvPicPr/>
          <p:nvPr/>
        </p:nvPicPr>
        <p:blipFill>
          <a:blip r:embed="rId2"/>
          <a:stretch/>
        </p:blipFill>
        <p:spPr>
          <a:xfrm>
            <a:off x="2246400" y="553320"/>
            <a:ext cx="1855800" cy="1855800"/>
          </a:xfrm>
          <a:prstGeom prst="rect">
            <a:avLst/>
          </a:prstGeom>
          <a:noFill/>
          <a:ln w="0">
            <a:noFill/>
          </a:ln>
        </p:spPr>
      </p:pic>
      <p:pic>
        <p:nvPicPr>
          <p:cNvPr id="72" name="Image 2" descr="Wallpaper group pm shown with repeated letter F"/>
          <p:cNvPicPr/>
          <p:nvPr/>
        </p:nvPicPr>
        <p:blipFill>
          <a:blip r:embed="rId3"/>
          <a:stretch/>
        </p:blipFill>
        <p:spPr>
          <a:xfrm>
            <a:off x="4194000" y="553320"/>
            <a:ext cx="1855800" cy="1855800"/>
          </a:xfrm>
          <a:prstGeom prst="rect">
            <a:avLst/>
          </a:prstGeom>
          <a:noFill/>
          <a:ln w="0">
            <a:noFill/>
          </a:ln>
        </p:spPr>
      </p:pic>
      <p:pic>
        <p:nvPicPr>
          <p:cNvPr id="73" name="Image 3" descr="Wallpaper group pg shown with repeated letter F"/>
          <p:cNvPicPr/>
          <p:nvPr/>
        </p:nvPicPr>
        <p:blipFill>
          <a:blip r:embed="rId4"/>
          <a:stretch/>
        </p:blipFill>
        <p:spPr>
          <a:xfrm>
            <a:off x="6141600" y="553320"/>
            <a:ext cx="1855800" cy="1855800"/>
          </a:xfrm>
          <a:prstGeom prst="rect">
            <a:avLst/>
          </a:prstGeom>
          <a:noFill/>
          <a:ln w="0">
            <a:noFill/>
          </a:ln>
        </p:spPr>
      </p:pic>
      <p:pic>
        <p:nvPicPr>
          <p:cNvPr id="74" name="Image 4" descr="Wallpaper group cm shown with repeated letter F"/>
          <p:cNvPicPr/>
          <p:nvPr/>
        </p:nvPicPr>
        <p:blipFill>
          <a:blip r:embed="rId5"/>
          <a:stretch/>
        </p:blipFill>
        <p:spPr>
          <a:xfrm>
            <a:off x="8089200" y="553320"/>
            <a:ext cx="1855800" cy="1855800"/>
          </a:xfrm>
          <a:prstGeom prst="rect">
            <a:avLst/>
          </a:prstGeom>
          <a:noFill/>
          <a:ln w="0">
            <a:noFill/>
          </a:ln>
        </p:spPr>
      </p:pic>
      <p:pic>
        <p:nvPicPr>
          <p:cNvPr id="75" name="Image 5" descr="Wallpaper group pmm shown with repeated letter F"/>
          <p:cNvPicPr/>
          <p:nvPr/>
        </p:nvPicPr>
        <p:blipFill>
          <a:blip r:embed="rId6"/>
          <a:stretch/>
        </p:blipFill>
        <p:spPr>
          <a:xfrm>
            <a:off x="10036800" y="553320"/>
            <a:ext cx="1855800" cy="1855800"/>
          </a:xfrm>
          <a:prstGeom prst="rect">
            <a:avLst/>
          </a:prstGeom>
          <a:noFill/>
          <a:ln w="0">
            <a:noFill/>
          </a:ln>
        </p:spPr>
      </p:pic>
      <p:pic>
        <p:nvPicPr>
          <p:cNvPr id="76" name="Image 6" descr="Wallpaper group pmg shown with repeated letter F"/>
          <p:cNvPicPr/>
          <p:nvPr/>
        </p:nvPicPr>
        <p:blipFill>
          <a:blip r:embed="rId7"/>
          <a:stretch/>
        </p:blipFill>
        <p:spPr>
          <a:xfrm>
            <a:off x="298440" y="2500920"/>
            <a:ext cx="1855800" cy="1855800"/>
          </a:xfrm>
          <a:prstGeom prst="rect">
            <a:avLst/>
          </a:prstGeom>
          <a:noFill/>
          <a:ln w="0">
            <a:noFill/>
          </a:ln>
        </p:spPr>
      </p:pic>
      <p:pic>
        <p:nvPicPr>
          <p:cNvPr id="77" name="Image 7" descr="Wallpaper group pgg shown with repeated letter F"/>
          <p:cNvPicPr/>
          <p:nvPr/>
        </p:nvPicPr>
        <p:blipFill>
          <a:blip r:embed="rId8"/>
          <a:stretch/>
        </p:blipFill>
        <p:spPr>
          <a:xfrm>
            <a:off x="2246400" y="2500920"/>
            <a:ext cx="1855800" cy="1855800"/>
          </a:xfrm>
          <a:prstGeom prst="rect">
            <a:avLst/>
          </a:prstGeom>
          <a:noFill/>
          <a:ln w="0">
            <a:noFill/>
          </a:ln>
        </p:spPr>
      </p:pic>
      <p:pic>
        <p:nvPicPr>
          <p:cNvPr id="78" name="Image 8" descr="Wallpaper group cmm shown with repeated letter F"/>
          <p:cNvPicPr/>
          <p:nvPr/>
        </p:nvPicPr>
        <p:blipFill>
          <a:blip r:embed="rId9"/>
          <a:stretch/>
        </p:blipFill>
        <p:spPr>
          <a:xfrm>
            <a:off x="4194000" y="2500920"/>
            <a:ext cx="1855800" cy="1855800"/>
          </a:xfrm>
          <a:prstGeom prst="rect">
            <a:avLst/>
          </a:prstGeom>
          <a:noFill/>
          <a:ln w="0">
            <a:noFill/>
          </a:ln>
        </p:spPr>
      </p:pic>
      <p:pic>
        <p:nvPicPr>
          <p:cNvPr id="79" name="Image 9" descr="Wallpaper group p4 shown with repeated letter F"/>
          <p:cNvPicPr/>
          <p:nvPr/>
        </p:nvPicPr>
        <p:blipFill>
          <a:blip r:embed="rId10"/>
          <a:stretch/>
        </p:blipFill>
        <p:spPr>
          <a:xfrm>
            <a:off x="6141600" y="2500920"/>
            <a:ext cx="1855800" cy="1855800"/>
          </a:xfrm>
          <a:prstGeom prst="rect">
            <a:avLst/>
          </a:prstGeom>
          <a:noFill/>
          <a:ln w="0">
            <a:noFill/>
          </a:ln>
        </p:spPr>
      </p:pic>
      <p:pic>
        <p:nvPicPr>
          <p:cNvPr id="80" name="Image 10" descr="Wallpaper group p4m shown with repeated letter F"/>
          <p:cNvPicPr/>
          <p:nvPr/>
        </p:nvPicPr>
        <p:blipFill>
          <a:blip r:embed="rId11"/>
          <a:stretch/>
        </p:blipFill>
        <p:spPr>
          <a:xfrm>
            <a:off x="8089200" y="2500920"/>
            <a:ext cx="1855800" cy="1855800"/>
          </a:xfrm>
          <a:prstGeom prst="rect">
            <a:avLst/>
          </a:prstGeom>
          <a:noFill/>
          <a:ln w="0">
            <a:noFill/>
          </a:ln>
        </p:spPr>
      </p:pic>
      <p:pic>
        <p:nvPicPr>
          <p:cNvPr id="81" name="Image 11" descr="Wallpaper group p4g shown with repeated letter F"/>
          <p:cNvPicPr/>
          <p:nvPr/>
        </p:nvPicPr>
        <p:blipFill>
          <a:blip r:embed="rId12"/>
          <a:stretch/>
        </p:blipFill>
        <p:spPr>
          <a:xfrm>
            <a:off x="10036800" y="2500920"/>
            <a:ext cx="1855800" cy="1855800"/>
          </a:xfrm>
          <a:prstGeom prst="rect">
            <a:avLst/>
          </a:prstGeom>
          <a:noFill/>
          <a:ln w="0">
            <a:noFill/>
          </a:ln>
        </p:spPr>
      </p:pic>
      <p:pic>
        <p:nvPicPr>
          <p:cNvPr id="82" name="Image 12" descr="Wallpaper group p3 shown with repeated letter F"/>
          <p:cNvPicPr/>
          <p:nvPr/>
        </p:nvPicPr>
        <p:blipFill>
          <a:blip r:embed="rId13"/>
          <a:stretch/>
        </p:blipFill>
        <p:spPr>
          <a:xfrm>
            <a:off x="1272240" y="4448520"/>
            <a:ext cx="1855800" cy="1855800"/>
          </a:xfrm>
          <a:prstGeom prst="rect">
            <a:avLst/>
          </a:prstGeom>
          <a:noFill/>
          <a:ln w="0">
            <a:noFill/>
          </a:ln>
        </p:spPr>
      </p:pic>
      <p:pic>
        <p:nvPicPr>
          <p:cNvPr id="83" name="Image 13" descr="Wallpaper group p3m1 shown with repeated letter F"/>
          <p:cNvPicPr/>
          <p:nvPr/>
        </p:nvPicPr>
        <p:blipFill>
          <a:blip r:embed="rId14"/>
          <a:stretch/>
        </p:blipFill>
        <p:spPr>
          <a:xfrm>
            <a:off x="3220200" y="4448520"/>
            <a:ext cx="1855800" cy="1855800"/>
          </a:xfrm>
          <a:prstGeom prst="rect">
            <a:avLst/>
          </a:prstGeom>
          <a:noFill/>
          <a:ln w="0">
            <a:noFill/>
          </a:ln>
        </p:spPr>
      </p:pic>
      <p:pic>
        <p:nvPicPr>
          <p:cNvPr id="84" name="Image 14" descr="Wallpaper group p31m shown with repeated letter F"/>
          <p:cNvPicPr/>
          <p:nvPr/>
        </p:nvPicPr>
        <p:blipFill>
          <a:blip r:embed="rId15"/>
          <a:stretch/>
        </p:blipFill>
        <p:spPr>
          <a:xfrm>
            <a:off x="5167800" y="4448520"/>
            <a:ext cx="1855800" cy="1855800"/>
          </a:xfrm>
          <a:prstGeom prst="rect">
            <a:avLst/>
          </a:prstGeom>
          <a:noFill/>
          <a:ln w="0">
            <a:noFill/>
          </a:ln>
        </p:spPr>
      </p:pic>
      <p:pic>
        <p:nvPicPr>
          <p:cNvPr id="85" name="Image 15" descr="Wallpaper group p6 shown with repeated letter F"/>
          <p:cNvPicPr/>
          <p:nvPr/>
        </p:nvPicPr>
        <p:blipFill>
          <a:blip r:embed="rId16"/>
          <a:stretch/>
        </p:blipFill>
        <p:spPr>
          <a:xfrm>
            <a:off x="7115400" y="4448520"/>
            <a:ext cx="1855800" cy="1855800"/>
          </a:xfrm>
          <a:prstGeom prst="rect">
            <a:avLst/>
          </a:prstGeom>
          <a:noFill/>
          <a:ln w="0">
            <a:noFill/>
          </a:ln>
        </p:spPr>
      </p:pic>
      <p:pic>
        <p:nvPicPr>
          <p:cNvPr id="86" name="Image 16" descr="Wallpaper group p6m shown with repeated letter F"/>
          <p:cNvPicPr/>
          <p:nvPr/>
        </p:nvPicPr>
        <p:blipFill>
          <a:blip r:embed="rId17"/>
          <a:stretch/>
        </p:blipFill>
        <p:spPr>
          <a:xfrm>
            <a:off x="9063000" y="4448520"/>
            <a:ext cx="1855800" cy="18558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Image 0" descr="Cover of Tilings &amp; Patterns"/>
          <p:cNvPicPr/>
          <p:nvPr/>
        </p:nvPicPr>
        <p:blipFill>
          <a:blip r:embed="rId1"/>
          <a:stretch/>
        </p:blipFill>
        <p:spPr>
          <a:xfrm>
            <a:off x="228600" y="952560"/>
            <a:ext cx="3728160" cy="4952880"/>
          </a:xfrm>
          <a:prstGeom prst="rect">
            <a:avLst/>
          </a:prstGeom>
          <a:noFill/>
          <a:ln w="0">
            <a:noFill/>
          </a:ln>
        </p:spPr>
      </p:pic>
      <p:pic>
        <p:nvPicPr>
          <p:cNvPr id="88" name="Image 1" descr="Cover of The Symmetries of Things"/>
          <p:cNvPicPr/>
          <p:nvPr/>
        </p:nvPicPr>
        <p:blipFill>
          <a:blip r:embed="rId2"/>
          <a:stretch/>
        </p:blipFill>
        <p:spPr>
          <a:xfrm>
            <a:off x="4231440" y="952560"/>
            <a:ext cx="3728160" cy="4952880"/>
          </a:xfrm>
          <a:prstGeom prst="rect">
            <a:avLst/>
          </a:prstGeom>
          <a:noFill/>
          <a:ln w="0">
            <a:noFill/>
          </a:ln>
        </p:spPr>
      </p:pic>
      <p:pic>
        <p:nvPicPr>
          <p:cNvPr id="89" name="Image 2" descr="Cover of Symmetry: A Mathematical Exploration"/>
          <p:cNvPicPr/>
          <p:nvPr/>
        </p:nvPicPr>
        <p:blipFill>
          <a:blip r:embed="rId3"/>
          <a:stretch/>
        </p:blipFill>
        <p:spPr>
          <a:xfrm>
            <a:off x="8234640" y="952560"/>
            <a:ext cx="3728160" cy="49528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Image 0" descr="Star-polygon tilings page from Tilings &amp; Patterns"/>
          <p:cNvPicPr/>
          <p:nvPr/>
        </p:nvPicPr>
        <p:blipFill>
          <a:blip r:embed="rId1"/>
          <a:stretch/>
        </p:blipFill>
        <p:spPr>
          <a:xfrm>
            <a:off x="228600" y="228600"/>
            <a:ext cx="3837960" cy="6400440"/>
          </a:xfrm>
          <a:prstGeom prst="rect">
            <a:avLst/>
          </a:prstGeom>
          <a:noFill/>
          <a:ln w="0">
            <a:noFill/>
          </a:ln>
        </p:spPr>
      </p:pic>
      <p:pic>
        <p:nvPicPr>
          <p:cNvPr id="91" name="Image 1" descr="Brick bond orbifold exercises from The Symmetries of Things"/>
          <p:cNvPicPr/>
          <p:nvPr/>
        </p:nvPicPr>
        <p:blipFill>
          <a:blip r:embed="rId2"/>
          <a:stretch/>
        </p:blipFill>
        <p:spPr>
          <a:xfrm>
            <a:off x="4176720" y="228600"/>
            <a:ext cx="3837960" cy="6400440"/>
          </a:xfrm>
          <a:prstGeom prst="rect">
            <a:avLst/>
          </a:prstGeom>
          <a:noFill/>
          <a:ln w="0">
            <a:noFill/>
          </a:ln>
        </p:spPr>
      </p:pic>
      <p:pic>
        <p:nvPicPr>
          <p:cNvPr id="92" name="Image 2" descr="Dodecahedron-icosahedron duality page from Symmetry"/>
          <p:cNvPicPr/>
          <p:nvPr/>
        </p:nvPicPr>
        <p:blipFill>
          <a:blip r:embed="rId3"/>
          <a:stretch/>
        </p:blipFill>
        <p:spPr>
          <a:xfrm>
            <a:off x="8124840" y="228600"/>
            <a:ext cx="383796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Image 0" descr="Plywood pentagon base"/>
          <p:cNvPicPr/>
          <p:nvPr/>
        </p:nvPicPr>
        <p:blipFill>
          <a:blip r:embed="rId1"/>
          <a:stretch/>
        </p:blipFill>
        <p:spPr>
          <a:xfrm>
            <a:off x="4176720" y="228600"/>
            <a:ext cx="3837960" cy="3145320"/>
          </a:xfrm>
          <a:prstGeom prst="rect">
            <a:avLst/>
          </a:prstGeom>
          <a:noFill/>
          <a:ln w="0">
            <a:noFill/>
          </a:ln>
        </p:spPr>
      </p:pic>
      <p:pic>
        <p:nvPicPr>
          <p:cNvPr id="94" name="Image 1" descr="Laser-cut plywood panel"/>
          <p:cNvPicPr/>
          <p:nvPr/>
        </p:nvPicPr>
        <p:blipFill>
          <a:blip r:embed="rId2"/>
          <a:stretch/>
        </p:blipFill>
        <p:spPr>
          <a:xfrm>
            <a:off x="228600" y="228600"/>
            <a:ext cx="3837960" cy="3145320"/>
          </a:xfrm>
          <a:prstGeom prst="rect">
            <a:avLst/>
          </a:prstGeom>
          <a:noFill/>
          <a:ln w="0">
            <a:noFill/>
          </a:ln>
        </p:spPr>
      </p:pic>
      <p:pic>
        <p:nvPicPr>
          <p:cNvPr id="95" name="Image 2" descr="WS2812B LED strip"/>
          <p:cNvPicPr/>
          <p:nvPr/>
        </p:nvPicPr>
        <p:blipFill>
          <a:blip r:embed="rId3"/>
          <a:stretch/>
        </p:blipFill>
        <p:spPr>
          <a:xfrm>
            <a:off x="228600" y="3483720"/>
            <a:ext cx="3837960" cy="3145320"/>
          </a:xfrm>
          <a:prstGeom prst="rect">
            <a:avLst/>
          </a:prstGeom>
          <a:noFill/>
          <a:ln w="0">
            <a:noFill/>
          </a:ln>
        </p:spPr>
      </p:pic>
      <p:pic>
        <p:nvPicPr>
          <p:cNvPr id="96" name="Image 3" descr="Zip ties"/>
          <p:cNvPicPr/>
          <p:nvPr/>
        </p:nvPicPr>
        <p:blipFill>
          <a:blip r:embed="rId4"/>
          <a:stretch/>
        </p:blipFill>
        <p:spPr>
          <a:xfrm>
            <a:off x="8124840" y="228600"/>
            <a:ext cx="3837960" cy="3145320"/>
          </a:xfrm>
          <a:prstGeom prst="rect">
            <a:avLst/>
          </a:prstGeom>
          <a:noFill/>
          <a:ln w="0">
            <a:noFill/>
          </a:ln>
        </p:spPr>
      </p:pic>
      <p:pic>
        <p:nvPicPr>
          <p:cNvPr id="97" name="Image 4" descr="3-pin 20 AWG extension wire"/>
          <p:cNvPicPr/>
          <p:nvPr/>
        </p:nvPicPr>
        <p:blipFill>
          <a:blip r:embed="rId5"/>
          <a:stretch/>
        </p:blipFill>
        <p:spPr>
          <a:xfrm>
            <a:off x="4176720" y="3483720"/>
            <a:ext cx="3837960" cy="3145320"/>
          </a:xfrm>
          <a:prstGeom prst="rect">
            <a:avLst/>
          </a:prstGeom>
          <a:noFill/>
          <a:ln w="0">
            <a:noFill/>
          </a:ln>
        </p:spPr>
      </p:pic>
      <p:pic>
        <p:nvPicPr>
          <p:cNvPr id="98" name="Image 5" descr="ESP32 dev board"/>
          <p:cNvPicPr/>
          <p:nvPr/>
        </p:nvPicPr>
        <p:blipFill>
          <a:blip r:embed="rId6"/>
          <a:stretch/>
        </p:blipFill>
        <p:spPr>
          <a:xfrm>
            <a:off x="8124840" y="3483720"/>
            <a:ext cx="3837960" cy="31453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Image 0" descr="Freshly cut panels on the laser cutter honeycomb bed"/>
          <p:cNvPicPr/>
          <p:nvPr/>
        </p:nvPicPr>
        <p:blipFill>
          <a:blip r:embed="rId1"/>
          <a:stretch/>
        </p:blipFill>
        <p:spPr>
          <a:xfrm>
            <a:off x="228600" y="228600"/>
            <a:ext cx="5812200" cy="6400440"/>
          </a:xfrm>
          <a:prstGeom prst="rect">
            <a:avLst/>
          </a:prstGeom>
          <a:noFill/>
          <a:ln w="0">
            <a:noFill/>
          </a:ln>
        </p:spPr>
      </p:pic>
      <p:pic>
        <p:nvPicPr>
          <p:cNvPr id="100" name="Image 1" descr="Ten finished laser-cut panels laid out in a ring"/>
          <p:cNvPicPr/>
          <p:nvPr/>
        </p:nvPicPr>
        <p:blipFill>
          <a:blip r:embed="rId2"/>
          <a:stretch/>
        </p:blipFill>
        <p:spPr>
          <a:xfrm>
            <a:off x="6150600" y="228600"/>
            <a:ext cx="581220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Image 3" descr="Notebook spread with hand-written OpenSCAD pattern code"/>
          <p:cNvPicPr/>
          <p:nvPr/>
        </p:nvPicPr>
        <p:blipFill>
          <a:blip r:embed="rId1"/>
          <a:stretch/>
        </p:blipFill>
        <p:spPr>
          <a:xfrm>
            <a:off x="135360" y="228600"/>
            <a:ext cx="1182744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Image 17" descr="Notebook spread with hand-written OpenSCAD pattern code"/>
          <p:cNvPicPr/>
          <p:nvPr/>
        </p:nvPicPr>
        <p:blipFill>
          <a:blip r:embed="rId1"/>
          <a:stretch/>
        </p:blipFill>
        <p:spPr>
          <a:xfrm>
            <a:off x="228600" y="228600"/>
            <a:ext cx="11658600" cy="6309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Image 0" descr="Pattern view: OpenSCAD Wallpaper Pattern Editor with live tiling preview"/>
          <p:cNvPicPr/>
          <p:nvPr/>
        </p:nvPicPr>
        <p:blipFill>
          <a:blip r:embed="rId1"/>
          <a:stretch/>
        </p:blipFill>
        <p:spPr>
          <a:xfrm>
            <a:off x="228600" y="1911960"/>
            <a:ext cx="6934680" cy="3033720"/>
          </a:xfrm>
          <a:prstGeom prst="rect">
            <a:avLst/>
          </a:prstGeom>
          <a:noFill/>
          <a:ln w="0">
            <a:noFill/>
          </a:ln>
        </p:spPr>
      </p:pic>
      <p:pic>
        <p:nvPicPr>
          <p:cNvPr id="104" name="Image 1" descr="Draw view: polygons drawn in the fundamental domain"/>
          <p:cNvPicPr/>
          <p:nvPr/>
        </p:nvPicPr>
        <p:blipFill>
          <a:blip r:embed="rId2"/>
          <a:stretch/>
        </p:blipFill>
        <p:spPr>
          <a:xfrm>
            <a:off x="7273080" y="1911960"/>
            <a:ext cx="4689720" cy="30337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Image 0" descr="Close-up of WS2812B LED strip"/>
          <p:cNvPicPr/>
          <p:nvPr/>
        </p:nvPicPr>
        <p:blipFill>
          <a:blip r:embed="rId1"/>
          <a:stretch/>
        </p:blipFill>
        <p:spPr>
          <a:xfrm>
            <a:off x="6150600" y="228600"/>
            <a:ext cx="5812200" cy="6400440"/>
          </a:xfrm>
          <a:prstGeom prst="rect">
            <a:avLst/>
          </a:prstGeom>
          <a:noFill/>
          <a:ln w="0">
            <a:noFill/>
          </a:ln>
        </p:spPr>
      </p:pic>
      <p:pic>
        <p:nvPicPr>
          <p:cNvPr id="106" name="Image 1" descr="WS2812B pixels chained on a cardboard template"/>
          <p:cNvPicPr/>
          <p:nvPr/>
        </p:nvPicPr>
        <p:blipFill>
          <a:blip r:embed="rId2"/>
          <a:stretch/>
        </p:blipFill>
        <p:spPr>
          <a:xfrm>
            <a:off x="228600" y="228600"/>
            <a:ext cx="581220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 name="Image 0" descr="Bundle of green zip ties"/>
          <p:cNvPicPr/>
          <p:nvPr/>
        </p:nvPicPr>
        <p:blipFill>
          <a:blip r:embed="rId1"/>
          <a:stretch/>
        </p:blipFill>
        <p:spPr>
          <a:xfrm>
            <a:off x="0" y="0"/>
            <a:ext cx="1219140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Image 0" descr="Whiteboard mapping the star's 12 points for light-show programming"/>
          <p:cNvPicPr/>
          <p:nvPr/>
        </p:nvPicPr>
        <p:blipFill>
          <a:blip r:embed="rId1"/>
          <a:stretch/>
        </p:blipFill>
        <p:spPr>
          <a:xfrm>
            <a:off x="228600" y="228600"/>
            <a:ext cx="5812200" cy="6400440"/>
          </a:xfrm>
          <a:prstGeom prst="rect">
            <a:avLst/>
          </a:prstGeom>
          <a:noFill/>
          <a:ln w="0">
            <a:noFill/>
          </a:ln>
        </p:spPr>
      </p:pic>
      <p:sp>
        <p:nvSpPr>
          <p:cNvPr id="109" name="PlaceHolder 1"/>
          <p:cNvSpPr>
            <a:spLocks noGrp="1"/>
          </p:cNvSpPr>
          <p:nvPr>
            <p:ph/>
          </p:nvPr>
        </p:nvSpPr>
        <p:spPr>
          <a:xfrm>
            <a:off x="6150600" y="228600"/>
            <a:ext cx="5812200" cy="6400440"/>
          </a:xfrm>
          <a:prstGeom prst="rect">
            <a:avLst/>
          </a:prstGeom>
          <a:noFill/>
          <a:ln w="0">
            <a:noFill/>
          </a:ln>
        </p:spPr>
        <p:txBody>
          <a:bodyPr lIns="90000" tIns="45000" rIns="90000" bIns="45000" anchor="ctr">
            <a:noAutofit/>
          </a:bodyPr>
          <a:p>
            <a:pPr indent="0" algn="ctr" defTabSz="914400">
              <a:spcBef>
                <a:spcPts val="320"/>
              </a:spcBef>
              <a:buNone/>
              <a:tabLst>
                <a:tab pos="0" algn="l"/>
              </a:tabLst>
            </a:pPr>
            <a:endParaRPr lang="en-US" sz="1600" b="0" u="none" strike="noStrike">
              <a:solidFill>
                <a:schemeClr val="accent4"/>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Image 0" descr="Neighbor map: Schlegel diagram of the 12 star points, coloured by hops from point 0"/>
          <p:cNvPicPr/>
          <p:nvPr/>
        </p:nvPicPr>
        <p:blipFill>
          <a:blip r:embed="rId1"/>
          <a:stretch/>
        </p:blipFill>
        <p:spPr>
          <a:xfrm>
            <a:off x="244080" y="228600"/>
            <a:ext cx="5780880" cy="6400440"/>
          </a:xfrm>
          <a:prstGeom prst="rect">
            <a:avLst/>
          </a:prstGeom>
          <a:noFill/>
          <a:ln w="0">
            <a:noFill/>
          </a:ln>
        </p:spPr>
      </p:pic>
      <p:pic>
        <p:nvPicPr>
          <p:cNvPr id="111" name="Image 1" descr="Node map: graph of the 12 star points and their 30 neighbour links, coloured by hops from point 0"/>
          <p:cNvPicPr/>
          <p:nvPr/>
        </p:nvPicPr>
        <p:blipFill>
          <a:blip r:embed="rId2"/>
          <a:stretch/>
        </p:blipFill>
        <p:spPr>
          <a:xfrm>
            <a:off x="6166080" y="228600"/>
            <a:ext cx="5780880" cy="64004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548640" y="2011680"/>
            <a:ext cx="6034680" cy="1371240"/>
          </a:xfrm>
          <a:prstGeom prst="rect">
            <a:avLst/>
          </a:prstGeom>
          <a:noFill/>
          <a:ln w="0">
            <a:noFill/>
          </a:ln>
        </p:spPr>
        <p:txBody>
          <a:bodyPr lIns="0" tIns="0" rIns="0" bIns="0" anchor="b">
            <a:noAutofit/>
          </a:bodyPr>
          <a:p>
            <a:pPr indent="0" algn="l" defTabSz="914400">
              <a:lnSpc>
                <a:spcPct val="100000"/>
              </a:lnSpc>
              <a:buNone/>
              <a:tabLst>
                <a:tab pos="0" algn="l"/>
              </a:tabLst>
            </a:pPr>
            <a:r>
              <a:rPr lang="en-US" sz="5400" b="1" u="none" strike="noStrike">
                <a:solidFill>
                  <a:schemeClr val="lt1"/>
                </a:solidFill>
                <a:effectLst/>
                <a:uFillTx/>
                <a:latin typeface="Cambria"/>
                <a:ea typeface="Cambria"/>
              </a:rPr>
              <a:t>Thank you</a:t>
            </a:r>
            <a:endParaRPr lang="en-US" sz="5400" b="1" u="none" strike="noStrike">
              <a:solidFill>
                <a:schemeClr val="lt1"/>
              </a:solidFill>
              <a:effectLst/>
              <a:uFillTx/>
              <a:latin typeface="Cambria"/>
            </a:endParaRPr>
          </a:p>
        </p:txBody>
      </p:sp>
      <p:sp>
        <p:nvSpPr>
          <p:cNvPr id="113" name="PlaceHolder 2"/>
          <p:cNvSpPr>
            <a:spLocks noGrp="1"/>
          </p:cNvSpPr>
          <p:nvPr>
            <p:ph/>
          </p:nvPr>
        </p:nvSpPr>
        <p:spPr>
          <a:xfrm>
            <a:off x="548640" y="3520440"/>
            <a:ext cx="5851800" cy="1462680"/>
          </a:xfrm>
          <a:prstGeom prst="rect">
            <a:avLst/>
          </a:prstGeom>
          <a:noFill/>
          <a:ln w="0">
            <a:noFill/>
          </a:ln>
        </p:spPr>
        <p:txBody>
          <a:bodyPr lIns="0" tIns="0" rIns="0" bIns="0" anchor="t">
            <a:noAutofit/>
          </a:bodyPr>
          <a:p>
            <a:pPr indent="0" algn="l" defTabSz="914400">
              <a:lnSpc>
                <a:spcPct val="100000"/>
              </a:lnSpc>
              <a:spcBef>
                <a:spcPts val="400"/>
              </a:spcBef>
              <a:buNone/>
              <a:tabLst>
                <a:tab pos="0" algn="l"/>
              </a:tabLst>
            </a:pPr>
            <a:r>
              <a:rPr lang="en-US" sz="2000" b="1" u="none" strike="noStrike">
                <a:solidFill>
                  <a:schemeClr val="lt1"/>
                </a:solidFill>
                <a:effectLst/>
                <a:uFillTx/>
                <a:latin typeface="Calibri"/>
              </a:rPr>
              <a:t>Questions?</a:t>
            </a:r>
            <a:endParaRPr lang="en-US" sz="2000" b="0" u="none" strike="noStrike">
              <a:solidFill>
                <a:schemeClr val="accent6"/>
              </a:solidFill>
              <a:effectLst/>
              <a:uFillTx/>
              <a:latin typeface="Calibri"/>
            </a:endParaRPr>
          </a:p>
          <a:p>
            <a:pPr indent="0" algn="l" defTabSz="914400">
              <a:lnSpc>
                <a:spcPct val="100000"/>
              </a:lnSpc>
              <a:spcBef>
                <a:spcPts val="300"/>
              </a:spcBef>
              <a:buNone/>
              <a:tabLst>
                <a:tab pos="0" algn="l"/>
              </a:tabLst>
            </a:pPr>
            <a:r>
              <a:rPr lang="en-US" sz="1500" b="0" u="none" strike="noStrike">
                <a:solidFill>
                  <a:schemeClr val="accent6"/>
                </a:solidFill>
                <a:effectLst/>
                <a:uFillTx/>
                <a:latin typeface="Calibri"/>
              </a:rPr>
              <a:t>github.com/Kuri148/Wanderers-Star-Laser-Cutting-Summer</a:t>
            </a:r>
            <a:endParaRPr lang="en-US" sz="1500" b="0" u="none" strike="noStrike">
              <a:solidFill>
                <a:schemeClr val="accent6"/>
              </a:solidFill>
              <a:effectLst/>
              <a:uFillTx/>
              <a:latin typeface="Calibri"/>
            </a:endParaRPr>
          </a:p>
        </p:txBody>
      </p:sp>
      <p:pic>
        <p:nvPicPr>
          <p:cNvPr id="114" name="Image 0" descr="Rendering of the small stellated dodecahedron"/>
          <p:cNvPicPr/>
          <p:nvPr/>
        </p:nvPicPr>
        <p:blipFill>
          <a:blip r:embed="rId1"/>
          <a:stretch/>
        </p:blipFill>
        <p:spPr>
          <a:xfrm>
            <a:off x="6400800" y="502920"/>
            <a:ext cx="5851800" cy="5851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Wanderers Star Dark">
  <a:themeElements>
    <a:clrScheme name="Wanderers Star Dark">
      <a:dk1>
        <a:srgbClr val="14182B"/>
      </a:dk1>
      <a:lt1>
        <a:srgbClr val="FFFFFF"/>
      </a:lt1>
      <a:dk2>
        <a:srgbClr val="232A45"/>
      </a:dk2>
      <a:lt2>
        <a:srgbClr val="C9CEDB"/>
      </a:lt2>
      <a:accent1>
        <a:srgbClr val="F2A93B"/>
      </a:accent1>
      <a:accent2>
        <a:srgbClr val="1FB89A"/>
      </a:accent2>
      <a:accent3>
        <a:srgbClr val="D65C24"/>
      </a:accent3>
      <a:accent4>
        <a:srgbClr val="8C97B8"/>
      </a:accent4>
      <a:accent5>
        <a:srgbClr val="8A6D3B"/>
      </a:accent5>
      <a:accent6>
        <a:srgbClr val="C9CEDB"/>
      </a:accent6>
      <a:hlink>
        <a:srgbClr val="1FB89A"/>
      </a:hlink>
      <a:folHlink>
        <a:srgbClr val="8C97B8"/>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LibreOffice/26.8.1.1$Linux_X86_64 LibreOffice_project/680$Build-1</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2026-10-30T18:33:52Z</dcterms:created>
  <dc:creator>Kuri148</dc:creator>
  <dc:description/>
  <dc:language>en-US</dc:language>
  <cp:lastModifiedBy/>
  <dcterms:modified xsi:type="dcterms:W3CDTF">2026-10-30T13:53:03Z</dcterms:modified>
  <cp:revision>3</cp:revision>
  <dc:subject>PptxGenJS Presentation</dc:subject>
  <dc:title>Wanderers Star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19</vt:r8>
  </property>
  <property fmtid="{D5CDD505-2E9C-101B-9397-08002B2CF9AE}" pid="3" name="PresentationFormat">
    <vt:lpwstr>On-screen Show (16:9)</vt:lpwstr>
  </property>
  <property fmtid="{D5CDD505-2E9C-101B-9397-08002B2CF9AE}" pid="4" name="Slides">
    <vt:r8>19</vt:r8>
  </property>
</Properties>
</file>